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</p:sldIdLst>
  <p:sldSz cx="17610138" cy="990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32"/>
    <p:restoredTop sz="94658"/>
  </p:normalViewPr>
  <p:slideViewPr>
    <p:cSldViewPr snapToGrid="0">
      <p:cViewPr varScale="1">
        <p:scale>
          <a:sx n="83" d="100"/>
          <a:sy n="83" d="100"/>
        </p:scale>
        <p:origin x="143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1267" y="1621191"/>
            <a:ext cx="13207604" cy="3448756"/>
          </a:xfrm>
        </p:spPr>
        <p:txBody>
          <a:bodyPr anchor="b"/>
          <a:lstStyle>
            <a:lvl1pPr algn="ctr">
              <a:defRPr sz="866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1267" y="5202944"/>
            <a:ext cx="13207604" cy="2391656"/>
          </a:xfrm>
        </p:spPr>
        <p:txBody>
          <a:bodyPr/>
          <a:lstStyle>
            <a:lvl1pPr marL="0" indent="0" algn="ctr">
              <a:buNone/>
              <a:defRPr sz="3467"/>
            </a:lvl1pPr>
            <a:lvl2pPr marL="660380" indent="0" algn="ctr">
              <a:buNone/>
              <a:defRPr sz="2889"/>
            </a:lvl2pPr>
            <a:lvl3pPr marL="1320759" indent="0" algn="ctr">
              <a:buNone/>
              <a:defRPr sz="2600"/>
            </a:lvl3pPr>
            <a:lvl4pPr marL="1981139" indent="0" algn="ctr">
              <a:buNone/>
              <a:defRPr sz="2311"/>
            </a:lvl4pPr>
            <a:lvl5pPr marL="2641519" indent="0" algn="ctr">
              <a:buNone/>
              <a:defRPr sz="2311"/>
            </a:lvl5pPr>
            <a:lvl6pPr marL="3301898" indent="0" algn="ctr">
              <a:buNone/>
              <a:defRPr sz="2311"/>
            </a:lvl6pPr>
            <a:lvl7pPr marL="3962278" indent="0" algn="ctr">
              <a:buNone/>
              <a:defRPr sz="2311"/>
            </a:lvl7pPr>
            <a:lvl8pPr marL="4622658" indent="0" algn="ctr">
              <a:buNone/>
              <a:defRPr sz="2311"/>
            </a:lvl8pPr>
            <a:lvl9pPr marL="5283037" indent="0" algn="ctr">
              <a:buNone/>
              <a:defRPr sz="2311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11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06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01525" y="2469622"/>
            <a:ext cx="15188744" cy="4120620"/>
          </a:xfrm>
        </p:spPr>
        <p:txBody>
          <a:bodyPr anchor="b"/>
          <a:lstStyle>
            <a:lvl1pPr>
              <a:defRPr sz="866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1525" y="6629225"/>
            <a:ext cx="15188744" cy="2166937"/>
          </a:xfrm>
        </p:spPr>
        <p:txBody>
          <a:bodyPr/>
          <a:lstStyle>
            <a:lvl1pPr marL="0" indent="0">
              <a:buNone/>
              <a:defRPr sz="3467">
                <a:solidFill>
                  <a:schemeClr val="tx1">
                    <a:tint val="82000"/>
                  </a:schemeClr>
                </a:solidFill>
              </a:defRPr>
            </a:lvl1pPr>
            <a:lvl2pPr marL="660380" indent="0">
              <a:buNone/>
              <a:defRPr sz="2889">
                <a:solidFill>
                  <a:schemeClr val="tx1">
                    <a:tint val="82000"/>
                  </a:schemeClr>
                </a:solidFill>
              </a:defRPr>
            </a:lvl2pPr>
            <a:lvl3pPr marL="1320759" indent="0">
              <a:buNone/>
              <a:defRPr sz="2600">
                <a:solidFill>
                  <a:schemeClr val="tx1">
                    <a:tint val="82000"/>
                  </a:schemeClr>
                </a:solidFill>
              </a:defRPr>
            </a:lvl3pPr>
            <a:lvl4pPr marL="1981139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4pPr>
            <a:lvl5pPr marL="2641519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5pPr>
            <a:lvl6pPr marL="3301898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6pPr>
            <a:lvl7pPr marL="3962278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7pPr>
            <a:lvl8pPr marL="4622658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8pPr>
            <a:lvl9pPr marL="5283037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480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0697" y="2637014"/>
            <a:ext cx="7484309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915132" y="2637014"/>
            <a:ext cx="7484309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419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1" y="527404"/>
            <a:ext cx="15188744" cy="191470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2991" y="2428347"/>
            <a:ext cx="7449913" cy="1190095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2991" y="3618442"/>
            <a:ext cx="7449913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915133" y="2428347"/>
            <a:ext cx="7486602" cy="1190095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915133" y="3618442"/>
            <a:ext cx="7486602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284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755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73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2" y="660400"/>
            <a:ext cx="5679727" cy="2311400"/>
          </a:xfrm>
        </p:spPr>
        <p:txBody>
          <a:bodyPr anchor="b"/>
          <a:lstStyle>
            <a:lvl1pPr>
              <a:defRPr sz="462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86603" y="1426281"/>
            <a:ext cx="8915132" cy="7039681"/>
          </a:xfrm>
        </p:spPr>
        <p:txBody>
          <a:bodyPr/>
          <a:lstStyle>
            <a:lvl1pPr>
              <a:defRPr sz="4622"/>
            </a:lvl1pPr>
            <a:lvl2pPr>
              <a:defRPr sz="4044"/>
            </a:lvl2pPr>
            <a:lvl3pPr>
              <a:defRPr sz="3467"/>
            </a:lvl3pPr>
            <a:lvl4pPr>
              <a:defRPr sz="2889"/>
            </a:lvl4pPr>
            <a:lvl5pPr>
              <a:defRPr sz="2889"/>
            </a:lvl5pPr>
            <a:lvl6pPr>
              <a:defRPr sz="2889"/>
            </a:lvl6pPr>
            <a:lvl7pPr>
              <a:defRPr sz="2889"/>
            </a:lvl7pPr>
            <a:lvl8pPr>
              <a:defRPr sz="2889"/>
            </a:lvl8pPr>
            <a:lvl9pPr>
              <a:defRPr sz="2889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2992" y="2971800"/>
            <a:ext cx="5679727" cy="5505627"/>
          </a:xfrm>
        </p:spPr>
        <p:txBody>
          <a:bodyPr/>
          <a:lstStyle>
            <a:lvl1pPr marL="0" indent="0">
              <a:buNone/>
              <a:defRPr sz="2311"/>
            </a:lvl1pPr>
            <a:lvl2pPr marL="660380" indent="0">
              <a:buNone/>
              <a:defRPr sz="2022"/>
            </a:lvl2pPr>
            <a:lvl3pPr marL="1320759" indent="0">
              <a:buNone/>
              <a:defRPr sz="1733"/>
            </a:lvl3pPr>
            <a:lvl4pPr marL="1981139" indent="0">
              <a:buNone/>
              <a:defRPr sz="1444"/>
            </a:lvl4pPr>
            <a:lvl5pPr marL="2641519" indent="0">
              <a:buNone/>
              <a:defRPr sz="1444"/>
            </a:lvl5pPr>
            <a:lvl6pPr marL="3301898" indent="0">
              <a:buNone/>
              <a:defRPr sz="1444"/>
            </a:lvl6pPr>
            <a:lvl7pPr marL="3962278" indent="0">
              <a:buNone/>
              <a:defRPr sz="1444"/>
            </a:lvl7pPr>
            <a:lvl8pPr marL="4622658" indent="0">
              <a:buNone/>
              <a:defRPr sz="1444"/>
            </a:lvl8pPr>
            <a:lvl9pPr marL="5283037" indent="0">
              <a:buNone/>
              <a:defRPr sz="144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464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2" y="660400"/>
            <a:ext cx="5679727" cy="2311400"/>
          </a:xfrm>
        </p:spPr>
        <p:txBody>
          <a:bodyPr anchor="b"/>
          <a:lstStyle>
            <a:lvl1pPr>
              <a:defRPr sz="462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86603" y="1426281"/>
            <a:ext cx="8915132" cy="7039681"/>
          </a:xfrm>
        </p:spPr>
        <p:txBody>
          <a:bodyPr anchor="t"/>
          <a:lstStyle>
            <a:lvl1pPr marL="0" indent="0">
              <a:buNone/>
              <a:defRPr sz="4622"/>
            </a:lvl1pPr>
            <a:lvl2pPr marL="660380" indent="0">
              <a:buNone/>
              <a:defRPr sz="4044"/>
            </a:lvl2pPr>
            <a:lvl3pPr marL="1320759" indent="0">
              <a:buNone/>
              <a:defRPr sz="3467"/>
            </a:lvl3pPr>
            <a:lvl4pPr marL="1981139" indent="0">
              <a:buNone/>
              <a:defRPr sz="2889"/>
            </a:lvl4pPr>
            <a:lvl5pPr marL="2641519" indent="0">
              <a:buNone/>
              <a:defRPr sz="2889"/>
            </a:lvl5pPr>
            <a:lvl6pPr marL="3301898" indent="0">
              <a:buNone/>
              <a:defRPr sz="2889"/>
            </a:lvl6pPr>
            <a:lvl7pPr marL="3962278" indent="0">
              <a:buNone/>
              <a:defRPr sz="2889"/>
            </a:lvl7pPr>
            <a:lvl8pPr marL="4622658" indent="0">
              <a:buNone/>
              <a:defRPr sz="2889"/>
            </a:lvl8pPr>
            <a:lvl9pPr marL="5283037" indent="0">
              <a:buNone/>
              <a:defRPr sz="2889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2992" y="2971800"/>
            <a:ext cx="5679727" cy="5505627"/>
          </a:xfrm>
        </p:spPr>
        <p:txBody>
          <a:bodyPr/>
          <a:lstStyle>
            <a:lvl1pPr marL="0" indent="0">
              <a:buNone/>
              <a:defRPr sz="2311"/>
            </a:lvl1pPr>
            <a:lvl2pPr marL="660380" indent="0">
              <a:buNone/>
              <a:defRPr sz="2022"/>
            </a:lvl2pPr>
            <a:lvl3pPr marL="1320759" indent="0">
              <a:buNone/>
              <a:defRPr sz="1733"/>
            </a:lvl3pPr>
            <a:lvl4pPr marL="1981139" indent="0">
              <a:buNone/>
              <a:defRPr sz="1444"/>
            </a:lvl4pPr>
            <a:lvl5pPr marL="2641519" indent="0">
              <a:buNone/>
              <a:defRPr sz="1444"/>
            </a:lvl5pPr>
            <a:lvl6pPr marL="3301898" indent="0">
              <a:buNone/>
              <a:defRPr sz="1444"/>
            </a:lvl6pPr>
            <a:lvl7pPr marL="3962278" indent="0">
              <a:buNone/>
              <a:defRPr sz="1444"/>
            </a:lvl7pPr>
            <a:lvl8pPr marL="4622658" indent="0">
              <a:buNone/>
              <a:defRPr sz="1444"/>
            </a:lvl8pPr>
            <a:lvl9pPr marL="5283037" indent="0">
              <a:buNone/>
              <a:defRPr sz="144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322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043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602255" y="527403"/>
            <a:ext cx="3797186" cy="839487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0697" y="527403"/>
            <a:ext cx="11171431" cy="839487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704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0697" y="527404"/>
            <a:ext cx="15188744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0697" y="2637014"/>
            <a:ext cx="15188744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0697" y="9181395"/>
            <a:ext cx="3962281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33358" y="9181395"/>
            <a:ext cx="5943422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437160" y="9181395"/>
            <a:ext cx="3962281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429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320759" rtl="0" eaLnBrk="1" latinLnBrk="0" hangingPunct="1">
        <a:lnSpc>
          <a:spcPct val="90000"/>
        </a:lnSpc>
        <a:spcBef>
          <a:spcPct val="0"/>
        </a:spcBef>
        <a:buNone/>
        <a:defRPr sz="63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0190" indent="-330190" algn="l" defTabSz="1320759" rtl="0" eaLnBrk="1" latinLnBrk="0" hangingPunct="1">
        <a:lnSpc>
          <a:spcPct val="90000"/>
        </a:lnSpc>
        <a:spcBef>
          <a:spcPts val="1444"/>
        </a:spcBef>
        <a:buFont typeface="Arial" panose="020B0604020202020204" pitchFamily="34" charset="0"/>
        <a:buChar char="•"/>
        <a:defRPr sz="4044" kern="1200">
          <a:solidFill>
            <a:schemeClr val="tx1"/>
          </a:solidFill>
          <a:latin typeface="+mn-lt"/>
          <a:ea typeface="+mn-ea"/>
          <a:cs typeface="+mn-cs"/>
        </a:defRPr>
      </a:lvl1pPr>
      <a:lvl2pPr marL="990570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3467" kern="1200">
          <a:solidFill>
            <a:schemeClr val="tx1"/>
          </a:solidFill>
          <a:latin typeface="+mn-lt"/>
          <a:ea typeface="+mn-ea"/>
          <a:cs typeface="+mn-cs"/>
        </a:defRPr>
      </a:lvl2pPr>
      <a:lvl3pPr marL="165094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3pPr>
      <a:lvl4pPr marL="231132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97170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63208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429246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95284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613227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60380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32075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98113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64151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30189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27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62265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283037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Rounded Rectangle 391">
            <a:extLst>
              <a:ext uri="{FF2B5EF4-FFF2-40B4-BE49-F238E27FC236}">
                <a16:creationId xmlns:a16="http://schemas.microsoft.com/office/drawing/2014/main" id="{A1ECB7F0-16B7-797A-CB86-796E695F872F}"/>
              </a:ext>
            </a:extLst>
          </p:cNvPr>
          <p:cNvSpPr/>
          <p:nvPr/>
        </p:nvSpPr>
        <p:spPr>
          <a:xfrm>
            <a:off x="8820257" y="510774"/>
            <a:ext cx="4540117" cy="926611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2" name="Rounded Rectangle 181">
            <a:extLst>
              <a:ext uri="{FF2B5EF4-FFF2-40B4-BE49-F238E27FC236}">
                <a16:creationId xmlns:a16="http://schemas.microsoft.com/office/drawing/2014/main" id="{F6B2FC80-942D-6472-5A67-2E7A0647BF7D}"/>
              </a:ext>
            </a:extLst>
          </p:cNvPr>
          <p:cNvSpPr/>
          <p:nvPr/>
        </p:nvSpPr>
        <p:spPr>
          <a:xfrm>
            <a:off x="64194" y="510774"/>
            <a:ext cx="4241343" cy="926611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4" name="Rounded Rectangle 183">
            <a:extLst>
              <a:ext uri="{FF2B5EF4-FFF2-40B4-BE49-F238E27FC236}">
                <a16:creationId xmlns:a16="http://schemas.microsoft.com/office/drawing/2014/main" id="{26F288F0-2708-74B1-3254-EB3371CE7831}"/>
              </a:ext>
            </a:extLst>
          </p:cNvPr>
          <p:cNvSpPr/>
          <p:nvPr/>
        </p:nvSpPr>
        <p:spPr>
          <a:xfrm>
            <a:off x="4407756" y="6003429"/>
            <a:ext cx="4285954" cy="3753257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Rounded Rectangle 182">
            <a:extLst>
              <a:ext uri="{FF2B5EF4-FFF2-40B4-BE49-F238E27FC236}">
                <a16:creationId xmlns:a16="http://schemas.microsoft.com/office/drawing/2014/main" id="{7FA648E3-5F24-6D2D-5446-E5461AA104C3}"/>
              </a:ext>
            </a:extLst>
          </p:cNvPr>
          <p:cNvSpPr/>
          <p:nvPr/>
        </p:nvSpPr>
        <p:spPr>
          <a:xfrm>
            <a:off x="4413409" y="510774"/>
            <a:ext cx="4285953" cy="5409757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5E9E28F-0219-C5C5-80FC-48BFFAE43D18}"/>
              </a:ext>
            </a:extLst>
          </p:cNvPr>
          <p:cNvSpPr/>
          <p:nvPr/>
        </p:nvSpPr>
        <p:spPr>
          <a:xfrm>
            <a:off x="1620459" y="1779215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Processing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54CF756-5EB6-3EBA-559C-6BB41072034E}"/>
              </a:ext>
            </a:extLst>
          </p:cNvPr>
          <p:cNvSpPr/>
          <p:nvPr/>
        </p:nvSpPr>
        <p:spPr>
          <a:xfrm>
            <a:off x="487257" y="3045909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Semantics</a:t>
            </a:r>
          </a:p>
          <a:p>
            <a:pPr algn="ctr"/>
            <a:r>
              <a:rPr lang="en-US" sz="1200" dirty="0"/>
              <a:t>(Title norm)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C55BE57-8782-9275-6319-EFE317DDE963}"/>
              </a:ext>
            </a:extLst>
          </p:cNvPr>
          <p:cNvSpPr/>
          <p:nvPr/>
        </p:nvSpPr>
        <p:spPr>
          <a:xfrm>
            <a:off x="3096876" y="5050592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extraction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C587981-15EA-10D9-2E69-446E0FDBF547}"/>
              </a:ext>
            </a:extLst>
          </p:cNvPr>
          <p:cNvSpPr/>
          <p:nvPr/>
        </p:nvSpPr>
        <p:spPr>
          <a:xfrm>
            <a:off x="3090525" y="304590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taxonomy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F278C51-1714-8B73-17B0-64F5B36BDAD1}"/>
              </a:ext>
            </a:extLst>
          </p:cNvPr>
          <p:cNvSpPr/>
          <p:nvPr/>
        </p:nvSpPr>
        <p:spPr>
          <a:xfrm>
            <a:off x="1666079" y="6417053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Seniority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A3DD752-EDC0-E3AF-20CD-6545D88A3609}"/>
              </a:ext>
            </a:extLst>
          </p:cNvPr>
          <p:cNvSpPr/>
          <p:nvPr/>
        </p:nvSpPr>
        <p:spPr>
          <a:xfrm>
            <a:off x="230506" y="6433930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Domain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D993743-AA9F-5FA6-B71B-0BDD6CD52CB1}"/>
              </a:ext>
            </a:extLst>
          </p:cNvPr>
          <p:cNvSpPr/>
          <p:nvPr/>
        </p:nvSpPr>
        <p:spPr>
          <a:xfrm>
            <a:off x="1679604" y="7861908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Ch0 Pipeline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D9A7FCF-5B31-2431-90BB-1560EE74F93C}"/>
              </a:ext>
            </a:extLst>
          </p:cNvPr>
          <p:cNvSpPr/>
          <p:nvPr/>
        </p:nvSpPr>
        <p:spPr>
          <a:xfrm>
            <a:off x="1620459" y="828809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Raw data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9177346-6378-F53A-8130-A10CE9C940E8}"/>
              </a:ext>
            </a:extLst>
          </p:cNvPr>
          <p:cNvSpPr/>
          <p:nvPr/>
        </p:nvSpPr>
        <p:spPr>
          <a:xfrm>
            <a:off x="1688734" y="8848072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 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BB94380-6309-AB5F-080B-96432546B966}"/>
              </a:ext>
            </a:extLst>
          </p:cNvPr>
          <p:cNvSpPr/>
          <p:nvPr/>
        </p:nvSpPr>
        <p:spPr>
          <a:xfrm>
            <a:off x="4801842" y="2642961"/>
            <a:ext cx="1340972" cy="624716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Salary model</a:t>
            </a:r>
          </a:p>
          <a:p>
            <a:pPr algn="ctr"/>
            <a:r>
              <a:rPr lang="en-US" sz="1200" dirty="0" err="1"/>
              <a:t>XGBRegresssor</a:t>
            </a:r>
            <a:endParaRPr lang="en-US" sz="1200" dirty="0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85E69FE-D336-F577-F917-CE22C2FCEECB}"/>
              </a:ext>
            </a:extLst>
          </p:cNvPr>
          <p:cNvSpPr/>
          <p:nvPr/>
        </p:nvSpPr>
        <p:spPr>
          <a:xfrm>
            <a:off x="7159007" y="2666460"/>
            <a:ext cx="129011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model</a:t>
            </a:r>
          </a:p>
          <a:p>
            <a:pPr algn="ctr"/>
            <a:r>
              <a:rPr lang="en-US" sz="1200" dirty="0" err="1"/>
              <a:t>LGBMClassifier</a:t>
            </a:r>
            <a:endParaRPr lang="en-US" sz="1200" dirty="0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7859FDF-684C-D762-9004-BEC4B91E6C65}"/>
              </a:ext>
            </a:extLst>
          </p:cNvPr>
          <p:cNvSpPr/>
          <p:nvPr/>
        </p:nvSpPr>
        <p:spPr>
          <a:xfrm>
            <a:off x="5275953" y="1749211"/>
            <a:ext cx="1037572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PCA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607E784-942B-9C2C-6BE1-B1762D368BFE}"/>
              </a:ext>
            </a:extLst>
          </p:cNvPr>
          <p:cNvSpPr/>
          <p:nvPr/>
        </p:nvSpPr>
        <p:spPr>
          <a:xfrm>
            <a:off x="4885870" y="3661995"/>
            <a:ext cx="1180151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F4BF50C2-8786-99D5-5548-21DB65651371}"/>
              </a:ext>
            </a:extLst>
          </p:cNvPr>
          <p:cNvSpPr/>
          <p:nvPr/>
        </p:nvSpPr>
        <p:spPr>
          <a:xfrm>
            <a:off x="4885870" y="4505139"/>
            <a:ext cx="1180151" cy="1303751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Fairness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SHAP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PDP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Skill value ranking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6D699941-884B-5310-6532-337D96F6E841}"/>
              </a:ext>
            </a:extLst>
          </p:cNvPr>
          <p:cNvSpPr/>
          <p:nvPr/>
        </p:nvSpPr>
        <p:spPr>
          <a:xfrm>
            <a:off x="7285277" y="4139429"/>
            <a:ext cx="1037572" cy="608551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probability matrix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9F2B18C7-66B0-89E1-FDAD-6C8451FCE4B1}"/>
              </a:ext>
            </a:extLst>
          </p:cNvPr>
          <p:cNvSpPr/>
          <p:nvPr/>
        </p:nvSpPr>
        <p:spPr>
          <a:xfrm>
            <a:off x="5794739" y="6157138"/>
            <a:ext cx="1545077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Graph</a:t>
            </a:r>
          </a:p>
          <a:p>
            <a:pPr algn="ctr"/>
            <a:r>
              <a:rPr lang="en-US" sz="1200" dirty="0" err="1"/>
              <a:t>Networkx</a:t>
            </a:r>
            <a:r>
              <a:rPr lang="en-US" sz="1200" dirty="0"/>
              <a:t> bipartite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89C21D99-9131-F15E-3A9A-39AF5A9CDBD7}"/>
              </a:ext>
            </a:extLst>
          </p:cNvPr>
          <p:cNvSpPr/>
          <p:nvPr/>
        </p:nvSpPr>
        <p:spPr>
          <a:xfrm>
            <a:off x="6749741" y="7039270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Embeddings</a:t>
            </a:r>
          </a:p>
          <a:p>
            <a:pPr algn="ctr"/>
            <a:r>
              <a:rPr lang="en-US" sz="1200" dirty="0"/>
              <a:t>Node2vec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0F791419-6094-108C-29DB-3BFDC51A9D1C}"/>
              </a:ext>
            </a:extLst>
          </p:cNvPr>
          <p:cNvSpPr/>
          <p:nvPr/>
        </p:nvSpPr>
        <p:spPr>
          <a:xfrm>
            <a:off x="4870810" y="7039270"/>
            <a:ext cx="114593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Clustering</a:t>
            </a:r>
          </a:p>
          <a:p>
            <a:pPr algn="ctr"/>
            <a:r>
              <a:rPr lang="en-US" sz="1200" dirty="0" err="1"/>
              <a:t>Kmeans</a:t>
            </a:r>
            <a:endParaRPr lang="en-US" sz="1200" dirty="0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1286C61-3033-0903-8610-7254D3DBEC4F}"/>
              </a:ext>
            </a:extLst>
          </p:cNvPr>
          <p:cNvSpPr/>
          <p:nvPr/>
        </p:nvSpPr>
        <p:spPr>
          <a:xfrm>
            <a:off x="4751155" y="8887913"/>
            <a:ext cx="1408511" cy="680845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specialization map (Lift)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A30758BF-7A46-C911-7C07-79C5592CF675}"/>
              </a:ext>
            </a:extLst>
          </p:cNvPr>
          <p:cNvSpPr/>
          <p:nvPr/>
        </p:nvSpPr>
        <p:spPr>
          <a:xfrm>
            <a:off x="6568931" y="8961511"/>
            <a:ext cx="1180151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families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59E786D9-8B3D-8335-B480-77A211FDEE18}"/>
              </a:ext>
            </a:extLst>
          </p:cNvPr>
          <p:cNvSpPr/>
          <p:nvPr/>
        </p:nvSpPr>
        <p:spPr>
          <a:xfrm>
            <a:off x="7449554" y="8102516"/>
            <a:ext cx="1180151" cy="630734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co-occurrence network</a:t>
            </a:r>
          </a:p>
        </p:txBody>
      </p:sp>
      <p:cxnSp>
        <p:nvCxnSpPr>
          <p:cNvPr id="51" name="Curved Connector 50">
            <a:extLst>
              <a:ext uri="{FF2B5EF4-FFF2-40B4-BE49-F238E27FC236}">
                <a16:creationId xmlns:a16="http://schemas.microsoft.com/office/drawing/2014/main" id="{2D9ACBB6-221D-25AC-4777-673E4A264641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 rot="16200000" flipH="1">
            <a:off x="2500846" y="1937444"/>
            <a:ext cx="746864" cy="14700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2678B169-F1B0-0C66-D76E-E21843391FA5}"/>
              </a:ext>
            </a:extLst>
          </p:cNvPr>
          <p:cNvSpPr/>
          <p:nvPr/>
        </p:nvSpPr>
        <p:spPr>
          <a:xfrm>
            <a:off x="9412710" y="828809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 profile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90149CF-FDB2-EF98-5837-FD9FBB28BBA6}"/>
              </a:ext>
            </a:extLst>
          </p:cNvPr>
          <p:cNvSpPr/>
          <p:nvPr/>
        </p:nvSpPr>
        <p:spPr>
          <a:xfrm>
            <a:off x="9282753" y="2039130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gap analysis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8C04299-7752-A68B-5628-E1C282A1BAD2}"/>
              </a:ext>
            </a:extLst>
          </p:cNvPr>
          <p:cNvSpPr/>
          <p:nvPr/>
        </p:nvSpPr>
        <p:spPr>
          <a:xfrm>
            <a:off x="11551746" y="1981560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Candidate positioning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28D52BB4-5143-E7EA-A2F0-F0047A919FF5}"/>
              </a:ext>
            </a:extLst>
          </p:cNvPr>
          <p:cNvSpPr/>
          <p:nvPr/>
        </p:nvSpPr>
        <p:spPr>
          <a:xfrm>
            <a:off x="9617769" y="5192644"/>
            <a:ext cx="1401019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Competitiveness index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0F21BC8-4A5A-E939-DED2-133CB47AB040}"/>
              </a:ext>
            </a:extLst>
          </p:cNvPr>
          <p:cNvSpPr/>
          <p:nvPr/>
        </p:nvSpPr>
        <p:spPr>
          <a:xfrm>
            <a:off x="9055350" y="2851545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rarity analysis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4330251-31F3-4532-4BB9-BDBDA812D625}"/>
              </a:ext>
            </a:extLst>
          </p:cNvPr>
          <p:cNvSpPr/>
          <p:nvPr/>
        </p:nvSpPr>
        <p:spPr>
          <a:xfrm>
            <a:off x="11516195" y="5192644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Suitability index</a:t>
            </a:r>
          </a:p>
        </p:txBody>
      </p:sp>
      <p:cxnSp>
        <p:nvCxnSpPr>
          <p:cNvPr id="49" name="Curved Connector 48">
            <a:extLst>
              <a:ext uri="{FF2B5EF4-FFF2-40B4-BE49-F238E27FC236}">
                <a16:creationId xmlns:a16="http://schemas.microsoft.com/office/drawing/2014/main" id="{E0164F51-CD09-37E0-3C5B-575F00E1DD6D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5400000">
            <a:off x="1199212" y="2105876"/>
            <a:ext cx="746864" cy="113320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2A393464-3E7E-B600-2ECD-26DB6F5D31E8}"/>
              </a:ext>
            </a:extLst>
          </p:cNvPr>
          <p:cNvSpPr/>
          <p:nvPr/>
        </p:nvSpPr>
        <p:spPr>
          <a:xfrm>
            <a:off x="12220375" y="405716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match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D29E1F33-07DC-A565-933F-1FBC34BC6FF1}"/>
              </a:ext>
            </a:extLst>
          </p:cNvPr>
          <p:cNvSpPr/>
          <p:nvPr/>
        </p:nvSpPr>
        <p:spPr>
          <a:xfrm>
            <a:off x="10802777" y="404824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Salary percentile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C7D6323D-C0E2-1AD7-DD6F-FB7D3FFDAC01}"/>
              </a:ext>
            </a:extLst>
          </p:cNvPr>
          <p:cNvSpPr/>
          <p:nvPr/>
        </p:nvSpPr>
        <p:spPr>
          <a:xfrm>
            <a:off x="15010372" y="3641285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recommender</a:t>
            </a:r>
          </a:p>
        </p:txBody>
      </p:sp>
      <p:cxnSp>
        <p:nvCxnSpPr>
          <p:cNvPr id="59" name="Curved Connector 58">
            <a:extLst>
              <a:ext uri="{FF2B5EF4-FFF2-40B4-BE49-F238E27FC236}">
                <a16:creationId xmlns:a16="http://schemas.microsoft.com/office/drawing/2014/main" id="{7FF24430-75AC-2C93-065A-A43C14EAFF71}"/>
              </a:ext>
            </a:extLst>
          </p:cNvPr>
          <p:cNvCxnSpPr>
            <a:stCxn id="17" idx="2"/>
            <a:endCxn id="16" idx="0"/>
          </p:cNvCxnSpPr>
          <p:nvPr/>
        </p:nvCxnSpPr>
        <p:spPr>
          <a:xfrm rot="16200000" flipH="1">
            <a:off x="2870060" y="4304989"/>
            <a:ext cx="1484853" cy="635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urved Connector 63">
            <a:extLst>
              <a:ext uri="{FF2B5EF4-FFF2-40B4-BE49-F238E27FC236}">
                <a16:creationId xmlns:a16="http://schemas.microsoft.com/office/drawing/2014/main" id="{857A23F3-20E8-0865-1C61-E6991F911CD4}"/>
              </a:ext>
            </a:extLst>
          </p:cNvPr>
          <p:cNvCxnSpPr>
            <a:cxnSpLocks/>
            <a:stCxn id="22" idx="3"/>
            <a:endCxn id="70" idx="1"/>
          </p:cNvCxnSpPr>
          <p:nvPr/>
        </p:nvCxnSpPr>
        <p:spPr>
          <a:xfrm>
            <a:off x="2658031" y="1088724"/>
            <a:ext cx="3392114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6F629E33-4630-E145-C298-33BD34B49439}"/>
              </a:ext>
            </a:extLst>
          </p:cNvPr>
          <p:cNvSpPr/>
          <p:nvPr/>
        </p:nvSpPr>
        <p:spPr>
          <a:xfrm>
            <a:off x="6050145" y="828809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 data</a:t>
            </a:r>
          </a:p>
        </p:txBody>
      </p: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19844625-492A-8C7D-317C-1748BC0B88F2}"/>
              </a:ext>
            </a:extLst>
          </p:cNvPr>
          <p:cNvSpPr/>
          <p:nvPr/>
        </p:nvSpPr>
        <p:spPr>
          <a:xfrm>
            <a:off x="3096876" y="644991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families</a:t>
            </a:r>
          </a:p>
        </p:txBody>
      </p:sp>
      <p:cxnSp>
        <p:nvCxnSpPr>
          <p:cNvPr id="73" name="Curved Connector 72">
            <a:extLst>
              <a:ext uri="{FF2B5EF4-FFF2-40B4-BE49-F238E27FC236}">
                <a16:creationId xmlns:a16="http://schemas.microsoft.com/office/drawing/2014/main" id="{22232B3E-16B6-E948-C82A-5A49424458E0}"/>
              </a:ext>
            </a:extLst>
          </p:cNvPr>
          <p:cNvCxnSpPr>
            <a:cxnSpLocks/>
            <a:stCxn id="16" idx="2"/>
            <a:endCxn id="72" idx="0"/>
          </p:cNvCxnSpPr>
          <p:nvPr/>
        </p:nvCxnSpPr>
        <p:spPr>
          <a:xfrm rot="5400000">
            <a:off x="3175915" y="6010169"/>
            <a:ext cx="879495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Left Brace 76">
            <a:extLst>
              <a:ext uri="{FF2B5EF4-FFF2-40B4-BE49-F238E27FC236}">
                <a16:creationId xmlns:a16="http://schemas.microsoft.com/office/drawing/2014/main" id="{E48F7B2C-9171-C6C0-496C-4D672D4D0AE3}"/>
              </a:ext>
            </a:extLst>
          </p:cNvPr>
          <p:cNvSpPr/>
          <p:nvPr/>
        </p:nvSpPr>
        <p:spPr>
          <a:xfrm rot="16200000">
            <a:off x="1947870" y="5500106"/>
            <a:ext cx="501041" cy="38097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055EE6CA-2817-D7CC-B542-EEAC233CD43A}"/>
              </a:ext>
            </a:extLst>
          </p:cNvPr>
          <p:cNvSpPr/>
          <p:nvPr/>
        </p:nvSpPr>
        <p:spPr>
          <a:xfrm>
            <a:off x="412646" y="4075263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Embeddings</a:t>
            </a:r>
          </a:p>
          <a:p>
            <a:pPr algn="ctr"/>
            <a:r>
              <a:rPr lang="en-US" sz="1200" dirty="0"/>
              <a:t>SBERT</a:t>
            </a:r>
          </a:p>
        </p:txBody>
      </p: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18F9CD0C-5156-32D3-2B45-20FF8341522E}"/>
              </a:ext>
            </a:extLst>
          </p:cNvPr>
          <p:cNvSpPr/>
          <p:nvPr/>
        </p:nvSpPr>
        <p:spPr>
          <a:xfrm>
            <a:off x="412646" y="5109110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Clustering</a:t>
            </a:r>
          </a:p>
          <a:p>
            <a:pPr algn="ctr"/>
            <a:r>
              <a:rPr lang="en-US" sz="1200" dirty="0" err="1"/>
              <a:t>KMeans</a:t>
            </a:r>
            <a:endParaRPr lang="en-US" sz="1200" dirty="0"/>
          </a:p>
        </p:txBody>
      </p:sp>
      <p:cxnSp>
        <p:nvCxnSpPr>
          <p:cNvPr id="101" name="Curved Connector 100">
            <a:extLst>
              <a:ext uri="{FF2B5EF4-FFF2-40B4-BE49-F238E27FC236}">
                <a16:creationId xmlns:a16="http://schemas.microsoft.com/office/drawing/2014/main" id="{70A0A22A-F18A-C3B1-47F7-86BED75184F4}"/>
              </a:ext>
            </a:extLst>
          </p:cNvPr>
          <p:cNvCxnSpPr>
            <a:stCxn id="15" idx="2"/>
            <a:endCxn id="94" idx="0"/>
          </p:cNvCxnSpPr>
          <p:nvPr/>
        </p:nvCxnSpPr>
        <p:spPr>
          <a:xfrm rot="5400000">
            <a:off x="749621" y="3818841"/>
            <a:ext cx="509524" cy="332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urved Connector 102">
            <a:extLst>
              <a:ext uri="{FF2B5EF4-FFF2-40B4-BE49-F238E27FC236}">
                <a16:creationId xmlns:a16="http://schemas.microsoft.com/office/drawing/2014/main" id="{1EA457A1-1C65-EC34-3556-0C6CFA2DA2A9}"/>
              </a:ext>
            </a:extLst>
          </p:cNvPr>
          <p:cNvCxnSpPr>
            <a:stCxn id="94" idx="2"/>
            <a:endCxn id="95" idx="0"/>
          </p:cNvCxnSpPr>
          <p:nvPr/>
        </p:nvCxnSpPr>
        <p:spPr>
          <a:xfrm rot="5400000">
            <a:off x="745714" y="4852101"/>
            <a:ext cx="514017" cy="1270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urved Connector 105">
            <a:extLst>
              <a:ext uri="{FF2B5EF4-FFF2-40B4-BE49-F238E27FC236}">
                <a16:creationId xmlns:a16="http://schemas.microsoft.com/office/drawing/2014/main" id="{95DE869F-A1E5-1849-0200-6024E5DDAA64}"/>
              </a:ext>
            </a:extLst>
          </p:cNvPr>
          <p:cNvCxnSpPr>
            <a:stCxn id="95" idx="2"/>
            <a:endCxn id="19" idx="0"/>
          </p:cNvCxnSpPr>
          <p:nvPr/>
        </p:nvCxnSpPr>
        <p:spPr>
          <a:xfrm rot="5400000">
            <a:off x="473512" y="5904720"/>
            <a:ext cx="804990" cy="25343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urved Connector 107">
            <a:extLst>
              <a:ext uri="{FF2B5EF4-FFF2-40B4-BE49-F238E27FC236}">
                <a16:creationId xmlns:a16="http://schemas.microsoft.com/office/drawing/2014/main" id="{EE673B5C-B760-E7E8-2583-2006E00175EC}"/>
              </a:ext>
            </a:extLst>
          </p:cNvPr>
          <p:cNvCxnSpPr>
            <a:cxnSpLocks/>
            <a:stCxn id="15" idx="3"/>
            <a:endCxn id="18" idx="0"/>
          </p:cNvCxnSpPr>
          <p:nvPr/>
        </p:nvCxnSpPr>
        <p:spPr>
          <a:xfrm>
            <a:off x="1524829" y="3305824"/>
            <a:ext cx="660036" cy="3111229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5BC1E5E4-E8EC-24A1-2461-EF43A3519726}"/>
              </a:ext>
            </a:extLst>
          </p:cNvPr>
          <p:cNvSpPr/>
          <p:nvPr/>
        </p:nvSpPr>
        <p:spPr>
          <a:xfrm>
            <a:off x="4863002" y="8006670"/>
            <a:ext cx="1180151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cxnSp>
        <p:nvCxnSpPr>
          <p:cNvPr id="122" name="Curved Connector 121">
            <a:extLst>
              <a:ext uri="{FF2B5EF4-FFF2-40B4-BE49-F238E27FC236}">
                <a16:creationId xmlns:a16="http://schemas.microsoft.com/office/drawing/2014/main" id="{5690F494-13B5-4408-3C43-3F862BDD6CC3}"/>
              </a:ext>
            </a:extLst>
          </p:cNvPr>
          <p:cNvCxnSpPr>
            <a:cxnSpLocks/>
            <a:stCxn id="70" idx="2"/>
            <a:endCxn id="26" idx="0"/>
          </p:cNvCxnSpPr>
          <p:nvPr/>
        </p:nvCxnSpPr>
        <p:spPr>
          <a:xfrm rot="5400000">
            <a:off x="5981549" y="1161829"/>
            <a:ext cx="400572" cy="77419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urved Connector 124">
            <a:extLst>
              <a:ext uri="{FF2B5EF4-FFF2-40B4-BE49-F238E27FC236}">
                <a16:creationId xmlns:a16="http://schemas.microsoft.com/office/drawing/2014/main" id="{9D3B716F-1262-96C8-E953-584720AFA3C9}"/>
              </a:ext>
            </a:extLst>
          </p:cNvPr>
          <p:cNvCxnSpPr>
            <a:cxnSpLocks/>
            <a:stCxn id="70" idx="2"/>
            <a:endCxn id="25" idx="0"/>
          </p:cNvCxnSpPr>
          <p:nvPr/>
        </p:nvCxnSpPr>
        <p:spPr>
          <a:xfrm rot="16200000" flipH="1">
            <a:off x="6527587" y="1389982"/>
            <a:ext cx="1317821" cy="1235133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urved Connector 127">
            <a:extLst>
              <a:ext uri="{FF2B5EF4-FFF2-40B4-BE49-F238E27FC236}">
                <a16:creationId xmlns:a16="http://schemas.microsoft.com/office/drawing/2014/main" id="{D8B16117-FD04-CCFE-7C66-3DEC24A7818B}"/>
              </a:ext>
            </a:extLst>
          </p:cNvPr>
          <p:cNvCxnSpPr>
            <a:cxnSpLocks/>
            <a:stCxn id="70" idx="2"/>
            <a:endCxn id="24" idx="3"/>
          </p:cNvCxnSpPr>
          <p:nvPr/>
        </p:nvCxnSpPr>
        <p:spPr>
          <a:xfrm rot="5400000">
            <a:off x="5552533" y="1938921"/>
            <a:ext cx="1606680" cy="426117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urved Connector 134">
            <a:extLst>
              <a:ext uri="{FF2B5EF4-FFF2-40B4-BE49-F238E27FC236}">
                <a16:creationId xmlns:a16="http://schemas.microsoft.com/office/drawing/2014/main" id="{B7498CBC-BDBA-61A4-8478-9BE34F3F4253}"/>
              </a:ext>
            </a:extLst>
          </p:cNvPr>
          <p:cNvCxnSpPr>
            <a:cxnSpLocks/>
            <a:stCxn id="24" idx="2"/>
            <a:endCxn id="27" idx="0"/>
          </p:cNvCxnSpPr>
          <p:nvPr/>
        </p:nvCxnSpPr>
        <p:spPr>
          <a:xfrm rot="16200000" flipH="1">
            <a:off x="5276978" y="3463027"/>
            <a:ext cx="394318" cy="361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urved Connector 138">
            <a:extLst>
              <a:ext uri="{FF2B5EF4-FFF2-40B4-BE49-F238E27FC236}">
                <a16:creationId xmlns:a16="http://schemas.microsoft.com/office/drawing/2014/main" id="{7C627020-DB37-F316-FF38-C195F96EE505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 rot="5400000">
            <a:off x="5314289" y="4343482"/>
            <a:ext cx="323314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urved Connector 142">
            <a:extLst>
              <a:ext uri="{FF2B5EF4-FFF2-40B4-BE49-F238E27FC236}">
                <a16:creationId xmlns:a16="http://schemas.microsoft.com/office/drawing/2014/main" id="{3028B6BE-DF48-608F-36A1-C195314180D9}"/>
              </a:ext>
            </a:extLst>
          </p:cNvPr>
          <p:cNvCxnSpPr>
            <a:cxnSpLocks/>
            <a:stCxn id="25" idx="2"/>
            <a:endCxn id="30" idx="0"/>
          </p:cNvCxnSpPr>
          <p:nvPr/>
        </p:nvCxnSpPr>
        <p:spPr>
          <a:xfrm rot="5400000">
            <a:off x="7327495" y="3662859"/>
            <a:ext cx="953139" cy="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urved Connector 146">
            <a:extLst>
              <a:ext uri="{FF2B5EF4-FFF2-40B4-BE49-F238E27FC236}">
                <a16:creationId xmlns:a16="http://schemas.microsoft.com/office/drawing/2014/main" id="{710A0258-A91E-0C3B-6C9E-40DC55872BF0}"/>
              </a:ext>
            </a:extLst>
          </p:cNvPr>
          <p:cNvCxnSpPr>
            <a:cxnSpLocks/>
            <a:stCxn id="30" idx="2"/>
            <a:endCxn id="31" idx="0"/>
          </p:cNvCxnSpPr>
          <p:nvPr/>
        </p:nvCxnSpPr>
        <p:spPr>
          <a:xfrm rot="5400000">
            <a:off x="6481092" y="4834167"/>
            <a:ext cx="1409158" cy="1236785"/>
          </a:xfrm>
          <a:prstGeom prst="curvedConnector3">
            <a:avLst>
              <a:gd name="adj1" fmla="val 6777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urved Connector 149">
            <a:extLst>
              <a:ext uri="{FF2B5EF4-FFF2-40B4-BE49-F238E27FC236}">
                <a16:creationId xmlns:a16="http://schemas.microsoft.com/office/drawing/2014/main" id="{A2812B3A-985C-6222-DE00-962FD40ED7FC}"/>
              </a:ext>
            </a:extLst>
          </p:cNvPr>
          <p:cNvCxnSpPr>
            <a:cxnSpLocks/>
            <a:stCxn id="31" idx="2"/>
            <a:endCxn id="32" idx="0"/>
          </p:cNvCxnSpPr>
          <p:nvPr/>
        </p:nvCxnSpPr>
        <p:spPr>
          <a:xfrm rot="16200000" flipH="1">
            <a:off x="6772396" y="6471849"/>
            <a:ext cx="362302" cy="77253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urved Connector 154">
            <a:extLst>
              <a:ext uri="{FF2B5EF4-FFF2-40B4-BE49-F238E27FC236}">
                <a16:creationId xmlns:a16="http://schemas.microsoft.com/office/drawing/2014/main" id="{CD124E44-0D98-8464-E79E-242D99CF7182}"/>
              </a:ext>
            </a:extLst>
          </p:cNvPr>
          <p:cNvCxnSpPr>
            <a:cxnSpLocks/>
            <a:stCxn id="32" idx="1"/>
            <a:endCxn id="33" idx="3"/>
          </p:cNvCxnSpPr>
          <p:nvPr/>
        </p:nvCxnSpPr>
        <p:spPr>
          <a:xfrm rot="10800000">
            <a:off x="6016743" y="7299185"/>
            <a:ext cx="732998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urved Connector 157">
            <a:extLst>
              <a:ext uri="{FF2B5EF4-FFF2-40B4-BE49-F238E27FC236}">
                <a16:creationId xmlns:a16="http://schemas.microsoft.com/office/drawing/2014/main" id="{9460C77E-6B43-F422-5B6D-A433CAF93202}"/>
              </a:ext>
            </a:extLst>
          </p:cNvPr>
          <p:cNvCxnSpPr>
            <a:cxnSpLocks/>
            <a:stCxn id="33" idx="2"/>
            <a:endCxn id="114" idx="0"/>
          </p:cNvCxnSpPr>
          <p:nvPr/>
        </p:nvCxnSpPr>
        <p:spPr>
          <a:xfrm rot="16200000" flipH="1">
            <a:off x="5224642" y="7778234"/>
            <a:ext cx="447570" cy="930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urved Connector 160">
            <a:extLst>
              <a:ext uri="{FF2B5EF4-FFF2-40B4-BE49-F238E27FC236}">
                <a16:creationId xmlns:a16="http://schemas.microsoft.com/office/drawing/2014/main" id="{B57E9562-5A30-537D-C292-133662D86B12}"/>
              </a:ext>
            </a:extLst>
          </p:cNvPr>
          <p:cNvCxnSpPr>
            <a:cxnSpLocks/>
            <a:stCxn id="114" idx="2"/>
            <a:endCxn id="34" idx="0"/>
          </p:cNvCxnSpPr>
          <p:nvPr/>
        </p:nvCxnSpPr>
        <p:spPr>
          <a:xfrm rot="16200000" flipH="1">
            <a:off x="5273538" y="8706039"/>
            <a:ext cx="361413" cy="233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urved Connector 165">
            <a:extLst>
              <a:ext uri="{FF2B5EF4-FFF2-40B4-BE49-F238E27FC236}">
                <a16:creationId xmlns:a16="http://schemas.microsoft.com/office/drawing/2014/main" id="{BB09E3E0-2ADD-A9DC-C00B-FE209AF41394}"/>
              </a:ext>
            </a:extLst>
          </p:cNvPr>
          <p:cNvCxnSpPr>
            <a:cxnSpLocks/>
            <a:stCxn id="33" idx="3"/>
            <a:endCxn id="35" idx="1"/>
          </p:cNvCxnSpPr>
          <p:nvPr/>
        </p:nvCxnSpPr>
        <p:spPr>
          <a:xfrm>
            <a:off x="6016743" y="7299185"/>
            <a:ext cx="552188" cy="192224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urved Connector 171">
            <a:extLst>
              <a:ext uri="{FF2B5EF4-FFF2-40B4-BE49-F238E27FC236}">
                <a16:creationId xmlns:a16="http://schemas.microsoft.com/office/drawing/2014/main" id="{2C32C205-70E2-19B6-3440-EFC28983E0BD}"/>
              </a:ext>
            </a:extLst>
          </p:cNvPr>
          <p:cNvCxnSpPr>
            <a:cxnSpLocks/>
            <a:stCxn id="32" idx="2"/>
            <a:endCxn id="36" idx="0"/>
          </p:cNvCxnSpPr>
          <p:nvPr/>
        </p:nvCxnSpPr>
        <p:spPr>
          <a:xfrm rot="16200000" flipH="1">
            <a:off x="7418015" y="7480901"/>
            <a:ext cx="543416" cy="69981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urved Connector 174">
            <a:extLst>
              <a:ext uri="{FF2B5EF4-FFF2-40B4-BE49-F238E27FC236}">
                <a16:creationId xmlns:a16="http://schemas.microsoft.com/office/drawing/2014/main" id="{8C443B4D-5806-5C00-46E1-CA3022925417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rot="5400000">
            <a:off x="6548207" y="8169900"/>
            <a:ext cx="1402411" cy="18081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urved Connector 191">
            <a:extLst>
              <a:ext uri="{FF2B5EF4-FFF2-40B4-BE49-F238E27FC236}">
                <a16:creationId xmlns:a16="http://schemas.microsoft.com/office/drawing/2014/main" id="{07043116-8C85-A7CA-8555-F197915B1067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 rot="16200000" flipH="1">
            <a:off x="1969788" y="8610340"/>
            <a:ext cx="466334" cy="913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urved Connector 221">
            <a:extLst>
              <a:ext uri="{FF2B5EF4-FFF2-40B4-BE49-F238E27FC236}">
                <a16:creationId xmlns:a16="http://schemas.microsoft.com/office/drawing/2014/main" id="{A280C531-BD40-CB46-0BAE-388ABAC62D5F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>
            <a:off x="6066021" y="3921911"/>
            <a:ext cx="1219256" cy="52179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urved Connector 237">
            <a:extLst>
              <a:ext uri="{FF2B5EF4-FFF2-40B4-BE49-F238E27FC236}">
                <a16:creationId xmlns:a16="http://schemas.microsoft.com/office/drawing/2014/main" id="{56DDAFCB-0802-4860-5FC0-009F68760934}"/>
              </a:ext>
            </a:extLst>
          </p:cNvPr>
          <p:cNvCxnSpPr>
            <a:cxnSpLocks/>
            <a:stCxn id="22" idx="2"/>
            <a:endCxn id="14" idx="0"/>
          </p:cNvCxnSpPr>
          <p:nvPr/>
        </p:nvCxnSpPr>
        <p:spPr>
          <a:xfrm rot="5400000">
            <a:off x="1923957" y="1563927"/>
            <a:ext cx="430576" cy="1270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Rounded Rectangle 240">
            <a:extLst>
              <a:ext uri="{FF2B5EF4-FFF2-40B4-BE49-F238E27FC236}">
                <a16:creationId xmlns:a16="http://schemas.microsoft.com/office/drawing/2014/main" id="{2D6A947B-A407-A12B-8634-200AF8C6D8E3}"/>
              </a:ext>
            </a:extLst>
          </p:cNvPr>
          <p:cNvSpPr/>
          <p:nvPr/>
        </p:nvSpPr>
        <p:spPr>
          <a:xfrm>
            <a:off x="2216475" y="411862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Cleaning and engineering</a:t>
            </a:r>
          </a:p>
        </p:txBody>
      </p:sp>
      <p:cxnSp>
        <p:nvCxnSpPr>
          <p:cNvPr id="251" name="Curved Connector 250">
            <a:extLst>
              <a:ext uri="{FF2B5EF4-FFF2-40B4-BE49-F238E27FC236}">
                <a16:creationId xmlns:a16="http://schemas.microsoft.com/office/drawing/2014/main" id="{07C06F9B-799C-8865-7207-51FB7E096D37}"/>
              </a:ext>
            </a:extLst>
          </p:cNvPr>
          <p:cNvCxnSpPr>
            <a:cxnSpLocks/>
            <a:stCxn id="14" idx="2"/>
            <a:endCxn id="241" idx="0"/>
          </p:cNvCxnSpPr>
          <p:nvPr/>
        </p:nvCxnSpPr>
        <p:spPr>
          <a:xfrm rot="16200000" flipH="1">
            <a:off x="1527462" y="2910828"/>
            <a:ext cx="1819582" cy="59601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urved Connector 263">
            <a:extLst>
              <a:ext uri="{FF2B5EF4-FFF2-40B4-BE49-F238E27FC236}">
                <a16:creationId xmlns:a16="http://schemas.microsoft.com/office/drawing/2014/main" id="{80AAE0DB-68E8-AABF-E7D1-4D546C4AC523}"/>
              </a:ext>
            </a:extLst>
          </p:cNvPr>
          <p:cNvCxnSpPr>
            <a:cxnSpLocks/>
            <a:stCxn id="26" idx="2"/>
            <a:endCxn id="24" idx="0"/>
          </p:cNvCxnSpPr>
          <p:nvPr/>
        </p:nvCxnSpPr>
        <p:spPr>
          <a:xfrm rot="5400000">
            <a:off x="5446574" y="2294796"/>
            <a:ext cx="373920" cy="32241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urved Connector 270">
            <a:extLst>
              <a:ext uri="{FF2B5EF4-FFF2-40B4-BE49-F238E27FC236}">
                <a16:creationId xmlns:a16="http://schemas.microsoft.com/office/drawing/2014/main" id="{E102086D-6D21-B4A9-E572-8A2E961AD604}"/>
              </a:ext>
            </a:extLst>
          </p:cNvPr>
          <p:cNvCxnSpPr>
            <a:cxnSpLocks/>
            <a:stCxn id="70" idx="3"/>
            <a:endCxn id="37" idx="1"/>
          </p:cNvCxnSpPr>
          <p:nvPr/>
        </p:nvCxnSpPr>
        <p:spPr>
          <a:xfrm>
            <a:off x="7087717" y="1088724"/>
            <a:ext cx="2324993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Rounded Rectangle 274">
            <a:extLst>
              <a:ext uri="{FF2B5EF4-FFF2-40B4-BE49-F238E27FC236}">
                <a16:creationId xmlns:a16="http://schemas.microsoft.com/office/drawing/2014/main" id="{0C0886E6-9080-8BB4-A5A6-BB27B084444C}"/>
              </a:ext>
            </a:extLst>
          </p:cNvPr>
          <p:cNvSpPr/>
          <p:nvPr/>
        </p:nvSpPr>
        <p:spPr>
          <a:xfrm>
            <a:off x="11376382" y="82880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Profile</a:t>
            </a:r>
          </a:p>
        </p:txBody>
      </p:sp>
      <p:sp>
        <p:nvSpPr>
          <p:cNvPr id="276" name="Rounded Rectangle 275">
            <a:extLst>
              <a:ext uri="{FF2B5EF4-FFF2-40B4-BE49-F238E27FC236}">
                <a16:creationId xmlns:a16="http://schemas.microsoft.com/office/drawing/2014/main" id="{F5A571D8-E014-64A2-B9F5-48493F346886}"/>
              </a:ext>
            </a:extLst>
          </p:cNvPr>
          <p:cNvSpPr/>
          <p:nvPr/>
        </p:nvSpPr>
        <p:spPr>
          <a:xfrm>
            <a:off x="11551746" y="2832556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Selected jobs</a:t>
            </a:r>
            <a:endParaRPr lang="en-US" sz="1200" dirty="0"/>
          </a:p>
        </p:txBody>
      </p:sp>
      <p:cxnSp>
        <p:nvCxnSpPr>
          <p:cNvPr id="277" name="Curved Connector 276">
            <a:extLst>
              <a:ext uri="{FF2B5EF4-FFF2-40B4-BE49-F238E27FC236}">
                <a16:creationId xmlns:a16="http://schemas.microsoft.com/office/drawing/2014/main" id="{83D4186B-6329-D50D-2D96-51B182535027}"/>
              </a:ext>
            </a:extLst>
          </p:cNvPr>
          <p:cNvCxnSpPr>
            <a:cxnSpLocks/>
            <a:stCxn id="37" idx="3"/>
            <a:endCxn id="275" idx="1"/>
          </p:cNvCxnSpPr>
          <p:nvPr/>
        </p:nvCxnSpPr>
        <p:spPr>
          <a:xfrm flipV="1">
            <a:off x="10450282" y="1088722"/>
            <a:ext cx="926100" cy="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urved Connector 279">
            <a:extLst>
              <a:ext uri="{FF2B5EF4-FFF2-40B4-BE49-F238E27FC236}">
                <a16:creationId xmlns:a16="http://schemas.microsoft.com/office/drawing/2014/main" id="{F628A2FD-CDA0-BDA0-1AD0-EF4F4FCFA213}"/>
              </a:ext>
            </a:extLst>
          </p:cNvPr>
          <p:cNvCxnSpPr>
            <a:cxnSpLocks/>
            <a:stCxn id="275" idx="2"/>
            <a:endCxn id="39" idx="0"/>
          </p:cNvCxnSpPr>
          <p:nvPr/>
        </p:nvCxnSpPr>
        <p:spPr>
          <a:xfrm rot="16200000" flipH="1">
            <a:off x="11666389" y="1577416"/>
            <a:ext cx="632923" cy="17536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urved Connector 282">
            <a:extLst>
              <a:ext uri="{FF2B5EF4-FFF2-40B4-BE49-F238E27FC236}">
                <a16:creationId xmlns:a16="http://schemas.microsoft.com/office/drawing/2014/main" id="{8F1A04FF-FA38-DAD2-158E-12947352EC7A}"/>
              </a:ext>
            </a:extLst>
          </p:cNvPr>
          <p:cNvCxnSpPr>
            <a:cxnSpLocks/>
            <a:stCxn id="39" idx="2"/>
            <a:endCxn id="276" idx="0"/>
          </p:cNvCxnSpPr>
          <p:nvPr/>
        </p:nvCxnSpPr>
        <p:spPr>
          <a:xfrm rot="5400000">
            <a:off x="11904949" y="2666973"/>
            <a:ext cx="331166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urved Connector 316">
            <a:extLst>
              <a:ext uri="{FF2B5EF4-FFF2-40B4-BE49-F238E27FC236}">
                <a16:creationId xmlns:a16="http://schemas.microsoft.com/office/drawing/2014/main" id="{460FEF78-5A0B-3C69-D5B6-92C1D803B93B}"/>
              </a:ext>
            </a:extLst>
          </p:cNvPr>
          <p:cNvCxnSpPr>
            <a:cxnSpLocks/>
            <a:stCxn id="30" idx="3"/>
            <a:endCxn id="38" idx="1"/>
          </p:cNvCxnSpPr>
          <p:nvPr/>
        </p:nvCxnSpPr>
        <p:spPr>
          <a:xfrm flipV="1">
            <a:off x="8322849" y="2299045"/>
            <a:ext cx="959904" cy="214466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urved Connector 319">
            <a:extLst>
              <a:ext uri="{FF2B5EF4-FFF2-40B4-BE49-F238E27FC236}">
                <a16:creationId xmlns:a16="http://schemas.microsoft.com/office/drawing/2014/main" id="{40A06D94-9C8F-655E-3000-2A19452762D9}"/>
              </a:ext>
            </a:extLst>
          </p:cNvPr>
          <p:cNvCxnSpPr>
            <a:cxnSpLocks/>
            <a:stCxn id="275" idx="2"/>
            <a:endCxn id="38" idx="0"/>
          </p:cNvCxnSpPr>
          <p:nvPr/>
        </p:nvCxnSpPr>
        <p:spPr>
          <a:xfrm rot="5400000">
            <a:off x="10503108" y="647069"/>
            <a:ext cx="690493" cy="209362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urved Connector 322">
            <a:extLst>
              <a:ext uri="{FF2B5EF4-FFF2-40B4-BE49-F238E27FC236}">
                <a16:creationId xmlns:a16="http://schemas.microsoft.com/office/drawing/2014/main" id="{35D44951-032C-C7C0-1BF3-6D2508D45466}"/>
              </a:ext>
            </a:extLst>
          </p:cNvPr>
          <p:cNvCxnSpPr>
            <a:cxnSpLocks/>
            <a:stCxn id="276" idx="1"/>
            <a:endCxn id="38" idx="3"/>
          </p:cNvCxnSpPr>
          <p:nvPr/>
        </p:nvCxnSpPr>
        <p:spPr>
          <a:xfrm rot="10800000">
            <a:off x="10320326" y="2299045"/>
            <a:ext cx="1231421" cy="79342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ounded Rectangle 326">
            <a:extLst>
              <a:ext uri="{FF2B5EF4-FFF2-40B4-BE49-F238E27FC236}">
                <a16:creationId xmlns:a16="http://schemas.microsoft.com/office/drawing/2014/main" id="{A2644AF4-372A-AB65-8FF1-B122746FB0ED}"/>
              </a:ext>
            </a:extLst>
          </p:cNvPr>
          <p:cNvSpPr/>
          <p:nvPr/>
        </p:nvSpPr>
        <p:spPr>
          <a:xfrm>
            <a:off x="9358723" y="4046834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Missing skills</a:t>
            </a:r>
          </a:p>
        </p:txBody>
      </p:sp>
      <p:cxnSp>
        <p:nvCxnSpPr>
          <p:cNvPr id="330" name="Curved Connector 329">
            <a:extLst>
              <a:ext uri="{FF2B5EF4-FFF2-40B4-BE49-F238E27FC236}">
                <a16:creationId xmlns:a16="http://schemas.microsoft.com/office/drawing/2014/main" id="{E618B335-AD88-3F4E-F190-8DC3567CD494}"/>
              </a:ext>
            </a:extLst>
          </p:cNvPr>
          <p:cNvCxnSpPr>
            <a:cxnSpLocks/>
            <a:stCxn id="30" idx="3"/>
            <a:endCxn id="42" idx="2"/>
          </p:cNvCxnSpPr>
          <p:nvPr/>
        </p:nvCxnSpPr>
        <p:spPr>
          <a:xfrm flipV="1">
            <a:off x="8322849" y="3371375"/>
            <a:ext cx="1251287" cy="107233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urved Connector 336">
            <a:extLst>
              <a:ext uri="{FF2B5EF4-FFF2-40B4-BE49-F238E27FC236}">
                <a16:creationId xmlns:a16="http://schemas.microsoft.com/office/drawing/2014/main" id="{E7282F0D-EAF1-0442-AC44-3122440BD51B}"/>
              </a:ext>
            </a:extLst>
          </p:cNvPr>
          <p:cNvCxnSpPr>
            <a:cxnSpLocks/>
            <a:stCxn id="42" idx="2"/>
            <a:endCxn id="327" idx="0"/>
          </p:cNvCxnSpPr>
          <p:nvPr/>
        </p:nvCxnSpPr>
        <p:spPr>
          <a:xfrm rot="16200000" flipH="1">
            <a:off x="9388093" y="3557417"/>
            <a:ext cx="675459" cy="30337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urved Connector 341">
            <a:extLst>
              <a:ext uri="{FF2B5EF4-FFF2-40B4-BE49-F238E27FC236}">
                <a16:creationId xmlns:a16="http://schemas.microsoft.com/office/drawing/2014/main" id="{0A26B1A1-7571-96E5-1FF7-AE309E4D32D1}"/>
              </a:ext>
            </a:extLst>
          </p:cNvPr>
          <p:cNvCxnSpPr>
            <a:cxnSpLocks/>
            <a:stCxn id="276" idx="2"/>
            <a:endCxn id="327" idx="0"/>
          </p:cNvCxnSpPr>
          <p:nvPr/>
        </p:nvCxnSpPr>
        <p:spPr>
          <a:xfrm rot="5400000">
            <a:off x="10626797" y="2603099"/>
            <a:ext cx="694448" cy="219302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urved Connector 344">
            <a:extLst>
              <a:ext uri="{FF2B5EF4-FFF2-40B4-BE49-F238E27FC236}">
                <a16:creationId xmlns:a16="http://schemas.microsoft.com/office/drawing/2014/main" id="{8A0C5072-A524-9F33-1523-486E7EF77F6D}"/>
              </a:ext>
            </a:extLst>
          </p:cNvPr>
          <p:cNvCxnSpPr>
            <a:cxnSpLocks/>
            <a:stCxn id="276" idx="2"/>
            <a:endCxn id="45" idx="0"/>
          </p:cNvCxnSpPr>
          <p:nvPr/>
        </p:nvCxnSpPr>
        <p:spPr>
          <a:xfrm rot="5400000">
            <a:off x="11348117" y="3325833"/>
            <a:ext cx="695863" cy="74896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urved Connector 350">
            <a:extLst>
              <a:ext uri="{FF2B5EF4-FFF2-40B4-BE49-F238E27FC236}">
                <a16:creationId xmlns:a16="http://schemas.microsoft.com/office/drawing/2014/main" id="{EB1DB73B-CD20-7BF8-473C-B1281F8E0EC9}"/>
              </a:ext>
            </a:extLst>
          </p:cNvPr>
          <p:cNvCxnSpPr>
            <a:cxnSpLocks/>
            <a:stCxn id="276" idx="2"/>
            <a:endCxn id="44" idx="0"/>
          </p:cNvCxnSpPr>
          <p:nvPr/>
        </p:nvCxnSpPr>
        <p:spPr>
          <a:xfrm rot="16200000" flipH="1">
            <a:off x="12052455" y="3370462"/>
            <a:ext cx="704783" cy="66862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urved Connector 356">
            <a:extLst>
              <a:ext uri="{FF2B5EF4-FFF2-40B4-BE49-F238E27FC236}">
                <a16:creationId xmlns:a16="http://schemas.microsoft.com/office/drawing/2014/main" id="{6DE2DD4A-B610-1824-A672-EF72FA9B06F3}"/>
              </a:ext>
            </a:extLst>
          </p:cNvPr>
          <p:cNvCxnSpPr>
            <a:cxnSpLocks/>
            <a:stCxn id="38" idx="3"/>
            <a:endCxn id="41" idx="0"/>
          </p:cNvCxnSpPr>
          <p:nvPr/>
        </p:nvCxnSpPr>
        <p:spPr>
          <a:xfrm flipH="1">
            <a:off x="10318279" y="2299045"/>
            <a:ext cx="2046" cy="2893599"/>
          </a:xfrm>
          <a:prstGeom prst="curvedConnector4">
            <a:avLst>
              <a:gd name="adj1" fmla="val -11173021"/>
              <a:gd name="adj2" fmla="val 8306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urved Connector 365">
            <a:extLst>
              <a:ext uri="{FF2B5EF4-FFF2-40B4-BE49-F238E27FC236}">
                <a16:creationId xmlns:a16="http://schemas.microsoft.com/office/drawing/2014/main" id="{CDD48A5E-9657-8C5A-5A41-78DDD96F6C53}"/>
              </a:ext>
            </a:extLst>
          </p:cNvPr>
          <p:cNvCxnSpPr>
            <a:cxnSpLocks/>
            <a:stCxn id="327" idx="2"/>
            <a:endCxn id="41" idx="0"/>
          </p:cNvCxnSpPr>
          <p:nvPr/>
        </p:nvCxnSpPr>
        <p:spPr>
          <a:xfrm rot="16200000" flipH="1">
            <a:off x="9784904" y="4659269"/>
            <a:ext cx="625980" cy="44077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urved Connector 368">
            <a:extLst>
              <a:ext uri="{FF2B5EF4-FFF2-40B4-BE49-F238E27FC236}">
                <a16:creationId xmlns:a16="http://schemas.microsoft.com/office/drawing/2014/main" id="{815E9F70-5675-8A73-A1B9-0310B61D4D8F}"/>
              </a:ext>
            </a:extLst>
          </p:cNvPr>
          <p:cNvCxnSpPr>
            <a:cxnSpLocks/>
            <a:stCxn id="45" idx="2"/>
            <a:endCxn id="41" idx="0"/>
          </p:cNvCxnSpPr>
          <p:nvPr/>
        </p:nvCxnSpPr>
        <p:spPr>
          <a:xfrm rot="5400000">
            <a:off x="10507639" y="4378719"/>
            <a:ext cx="624565" cy="100328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urved Connector 371">
            <a:extLst>
              <a:ext uri="{FF2B5EF4-FFF2-40B4-BE49-F238E27FC236}">
                <a16:creationId xmlns:a16="http://schemas.microsoft.com/office/drawing/2014/main" id="{6FE6E8DF-CA89-FF81-1801-6557B27636DA}"/>
              </a:ext>
            </a:extLst>
          </p:cNvPr>
          <p:cNvCxnSpPr>
            <a:cxnSpLocks/>
            <a:stCxn id="45" idx="2"/>
            <a:endCxn id="43" idx="0"/>
          </p:cNvCxnSpPr>
          <p:nvPr/>
        </p:nvCxnSpPr>
        <p:spPr>
          <a:xfrm rot="16200000" flipH="1">
            <a:off x="11365990" y="4523652"/>
            <a:ext cx="624565" cy="71341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urved Connector 374">
            <a:extLst>
              <a:ext uri="{FF2B5EF4-FFF2-40B4-BE49-F238E27FC236}">
                <a16:creationId xmlns:a16="http://schemas.microsoft.com/office/drawing/2014/main" id="{2189B899-D84C-404D-4450-8EC2F821E508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 rot="5400000">
            <a:off x="12079249" y="4532731"/>
            <a:ext cx="615645" cy="7041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Rounded Rectangle 377">
            <a:extLst>
              <a:ext uri="{FF2B5EF4-FFF2-40B4-BE49-F238E27FC236}">
                <a16:creationId xmlns:a16="http://schemas.microsoft.com/office/drawing/2014/main" id="{9E50F06D-5B08-1CFA-B604-F8BCBE602B35}"/>
              </a:ext>
            </a:extLst>
          </p:cNvPr>
          <p:cNvSpPr/>
          <p:nvPr/>
        </p:nvSpPr>
        <p:spPr>
          <a:xfrm>
            <a:off x="10634097" y="7354460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Ch3 Pipeline</a:t>
            </a:r>
          </a:p>
        </p:txBody>
      </p:sp>
      <p:sp>
        <p:nvSpPr>
          <p:cNvPr id="379" name="Rounded Rectangle 378">
            <a:extLst>
              <a:ext uri="{FF2B5EF4-FFF2-40B4-BE49-F238E27FC236}">
                <a16:creationId xmlns:a16="http://schemas.microsoft.com/office/drawing/2014/main" id="{90F628BB-2C81-4580-4BA1-23EE2B79788F}"/>
              </a:ext>
            </a:extLst>
          </p:cNvPr>
          <p:cNvSpPr/>
          <p:nvPr/>
        </p:nvSpPr>
        <p:spPr>
          <a:xfrm>
            <a:off x="10621571" y="8328242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Positioning</a:t>
            </a:r>
          </a:p>
        </p:txBody>
      </p:sp>
      <p:sp>
        <p:nvSpPr>
          <p:cNvPr id="380" name="Left Brace 379">
            <a:extLst>
              <a:ext uri="{FF2B5EF4-FFF2-40B4-BE49-F238E27FC236}">
                <a16:creationId xmlns:a16="http://schemas.microsoft.com/office/drawing/2014/main" id="{981D9ABD-8691-5718-1EF0-D0ED7F6531F5}"/>
              </a:ext>
            </a:extLst>
          </p:cNvPr>
          <p:cNvSpPr/>
          <p:nvPr/>
        </p:nvSpPr>
        <p:spPr>
          <a:xfrm rot="16200000">
            <a:off x="10892821" y="4918810"/>
            <a:ext cx="501041" cy="414611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1" name="Rounded Rectangle 380">
            <a:extLst>
              <a:ext uri="{FF2B5EF4-FFF2-40B4-BE49-F238E27FC236}">
                <a16:creationId xmlns:a16="http://schemas.microsoft.com/office/drawing/2014/main" id="{59DB3D3B-BAA2-FB19-89C5-1DE1AD07D0E1}"/>
              </a:ext>
            </a:extLst>
          </p:cNvPr>
          <p:cNvSpPr/>
          <p:nvPr/>
        </p:nvSpPr>
        <p:spPr>
          <a:xfrm>
            <a:off x="10601236" y="6190002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Sensitivity analysis</a:t>
            </a:r>
          </a:p>
        </p:txBody>
      </p:sp>
      <p:cxnSp>
        <p:nvCxnSpPr>
          <p:cNvPr id="383" name="Curved Connector 382">
            <a:extLst>
              <a:ext uri="{FF2B5EF4-FFF2-40B4-BE49-F238E27FC236}">
                <a16:creationId xmlns:a16="http://schemas.microsoft.com/office/drawing/2014/main" id="{F9474674-1FEE-ACD2-810E-7E105F2186EE}"/>
              </a:ext>
            </a:extLst>
          </p:cNvPr>
          <p:cNvCxnSpPr>
            <a:cxnSpLocks/>
            <a:stCxn id="378" idx="2"/>
            <a:endCxn id="379" idx="0"/>
          </p:cNvCxnSpPr>
          <p:nvPr/>
        </p:nvCxnSpPr>
        <p:spPr>
          <a:xfrm rot="5400000">
            <a:off x="10919644" y="8095003"/>
            <a:ext cx="453952" cy="1252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urved Connector 385">
            <a:extLst>
              <a:ext uri="{FF2B5EF4-FFF2-40B4-BE49-F238E27FC236}">
                <a16:creationId xmlns:a16="http://schemas.microsoft.com/office/drawing/2014/main" id="{F6580214-7B61-2A08-9F07-B76B0FFB9E80}"/>
              </a:ext>
            </a:extLst>
          </p:cNvPr>
          <p:cNvCxnSpPr>
            <a:cxnSpLocks/>
            <a:stCxn id="381" idx="0"/>
            <a:endCxn id="43" idx="2"/>
          </p:cNvCxnSpPr>
          <p:nvPr/>
        </p:nvCxnSpPr>
        <p:spPr>
          <a:xfrm rot="5400000" flipH="1" flipV="1">
            <a:off x="11338737" y="5493759"/>
            <a:ext cx="477528" cy="91495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urved Connector 388">
            <a:extLst>
              <a:ext uri="{FF2B5EF4-FFF2-40B4-BE49-F238E27FC236}">
                <a16:creationId xmlns:a16="http://schemas.microsoft.com/office/drawing/2014/main" id="{AA63B08B-BC23-C6DB-6D10-17E9397969EF}"/>
              </a:ext>
            </a:extLst>
          </p:cNvPr>
          <p:cNvCxnSpPr>
            <a:cxnSpLocks/>
            <a:stCxn id="381" idx="0"/>
            <a:endCxn id="41" idx="2"/>
          </p:cNvCxnSpPr>
          <p:nvPr/>
        </p:nvCxnSpPr>
        <p:spPr>
          <a:xfrm rot="16200000" flipV="1">
            <a:off x="10480387" y="5550366"/>
            <a:ext cx="477528" cy="80174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7" name="Rounded Rectangle 426">
            <a:extLst>
              <a:ext uri="{FF2B5EF4-FFF2-40B4-BE49-F238E27FC236}">
                <a16:creationId xmlns:a16="http://schemas.microsoft.com/office/drawing/2014/main" id="{530D81C3-446C-B924-6F74-135A540BDCE8}"/>
              </a:ext>
            </a:extLst>
          </p:cNvPr>
          <p:cNvSpPr/>
          <p:nvPr/>
        </p:nvSpPr>
        <p:spPr>
          <a:xfrm>
            <a:off x="16139991" y="1749211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Positioning</a:t>
            </a:r>
          </a:p>
        </p:txBody>
      </p:sp>
      <p:sp>
        <p:nvSpPr>
          <p:cNvPr id="440" name="Rounded Rectangle 439">
            <a:extLst>
              <a:ext uri="{FF2B5EF4-FFF2-40B4-BE49-F238E27FC236}">
                <a16:creationId xmlns:a16="http://schemas.microsoft.com/office/drawing/2014/main" id="{E97FF8EB-BB31-F7F2-6679-9678483D16DA}"/>
              </a:ext>
            </a:extLst>
          </p:cNvPr>
          <p:cNvSpPr/>
          <p:nvPr/>
        </p:nvSpPr>
        <p:spPr>
          <a:xfrm>
            <a:off x="13952827" y="841509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Ch1</a:t>
            </a:r>
          </a:p>
        </p:txBody>
      </p:sp>
      <p:sp>
        <p:nvSpPr>
          <p:cNvPr id="441" name="Rounded Rectangle 440">
            <a:extLst>
              <a:ext uri="{FF2B5EF4-FFF2-40B4-BE49-F238E27FC236}">
                <a16:creationId xmlns:a16="http://schemas.microsoft.com/office/drawing/2014/main" id="{4D172D62-3ECB-7387-7FA1-C0C34D637106}"/>
              </a:ext>
            </a:extLst>
          </p:cNvPr>
          <p:cNvSpPr/>
          <p:nvPr/>
        </p:nvSpPr>
        <p:spPr>
          <a:xfrm>
            <a:off x="16127466" y="841509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Ch3 Pipeline</a:t>
            </a:r>
          </a:p>
        </p:txBody>
      </p:sp>
      <p:sp>
        <p:nvSpPr>
          <p:cNvPr id="442" name="Rounded Rectangle 441">
            <a:extLst>
              <a:ext uri="{FF2B5EF4-FFF2-40B4-BE49-F238E27FC236}">
                <a16:creationId xmlns:a16="http://schemas.microsoft.com/office/drawing/2014/main" id="{4C92DBB5-8C9C-E5A2-58A3-97BD28AE356C}"/>
              </a:ext>
            </a:extLst>
          </p:cNvPr>
          <p:cNvSpPr/>
          <p:nvPr/>
        </p:nvSpPr>
        <p:spPr>
          <a:xfrm>
            <a:off x="13799878" y="1773558"/>
            <a:ext cx="1340972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Models: Salary, Skills, PCA</a:t>
            </a:r>
          </a:p>
        </p:txBody>
      </p:sp>
      <p:cxnSp>
        <p:nvCxnSpPr>
          <p:cNvPr id="443" name="Curved Connector 442">
            <a:extLst>
              <a:ext uri="{FF2B5EF4-FFF2-40B4-BE49-F238E27FC236}">
                <a16:creationId xmlns:a16="http://schemas.microsoft.com/office/drawing/2014/main" id="{ABF32CC7-DF54-13E0-113F-59F9EA142886}"/>
              </a:ext>
            </a:extLst>
          </p:cNvPr>
          <p:cNvCxnSpPr>
            <a:cxnSpLocks/>
            <a:stCxn id="440" idx="2"/>
            <a:endCxn id="442" idx="0"/>
          </p:cNvCxnSpPr>
          <p:nvPr/>
        </p:nvCxnSpPr>
        <p:spPr>
          <a:xfrm rot="5400000">
            <a:off x="14264880" y="1566824"/>
            <a:ext cx="412219" cy="124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urved Connector 446">
            <a:extLst>
              <a:ext uri="{FF2B5EF4-FFF2-40B4-BE49-F238E27FC236}">
                <a16:creationId xmlns:a16="http://schemas.microsoft.com/office/drawing/2014/main" id="{4D965748-7FE3-27A3-1A75-1A447EAAF100}"/>
              </a:ext>
            </a:extLst>
          </p:cNvPr>
          <p:cNvCxnSpPr>
            <a:cxnSpLocks/>
            <a:stCxn id="441" idx="2"/>
            <a:endCxn id="427" idx="0"/>
          </p:cNvCxnSpPr>
          <p:nvPr/>
        </p:nvCxnSpPr>
        <p:spPr>
          <a:xfrm rot="16200000" flipH="1">
            <a:off x="16458578" y="1549012"/>
            <a:ext cx="387872" cy="1252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urved Connector 449">
            <a:extLst>
              <a:ext uri="{FF2B5EF4-FFF2-40B4-BE49-F238E27FC236}">
                <a16:creationId xmlns:a16="http://schemas.microsoft.com/office/drawing/2014/main" id="{A50F9061-38CB-E090-D546-8DB3444B5546}"/>
              </a:ext>
            </a:extLst>
          </p:cNvPr>
          <p:cNvCxnSpPr>
            <a:cxnSpLocks/>
            <a:stCxn id="442" idx="2"/>
            <a:endCxn id="47" idx="0"/>
          </p:cNvCxnSpPr>
          <p:nvPr/>
        </p:nvCxnSpPr>
        <p:spPr>
          <a:xfrm rot="16200000" flipH="1">
            <a:off x="14365997" y="2397755"/>
            <a:ext cx="1347897" cy="113916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urved Connector 452">
            <a:extLst>
              <a:ext uri="{FF2B5EF4-FFF2-40B4-BE49-F238E27FC236}">
                <a16:creationId xmlns:a16="http://schemas.microsoft.com/office/drawing/2014/main" id="{6099A335-469E-49ED-5BC8-04CBF95DF709}"/>
              </a:ext>
            </a:extLst>
          </p:cNvPr>
          <p:cNvCxnSpPr>
            <a:cxnSpLocks/>
            <a:stCxn id="427" idx="2"/>
            <a:endCxn id="47" idx="0"/>
          </p:cNvCxnSpPr>
          <p:nvPr/>
        </p:nvCxnSpPr>
        <p:spPr>
          <a:xfrm rot="5400000">
            <a:off x="15448030" y="2430538"/>
            <a:ext cx="1372244" cy="104925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6" name="Rounded Rectangle 455">
            <a:extLst>
              <a:ext uri="{FF2B5EF4-FFF2-40B4-BE49-F238E27FC236}">
                <a16:creationId xmlns:a16="http://schemas.microsoft.com/office/drawing/2014/main" id="{1EB6BA6A-046F-1225-D4E7-21CA114E92F1}"/>
              </a:ext>
            </a:extLst>
          </p:cNvPr>
          <p:cNvSpPr/>
          <p:nvPr/>
        </p:nvSpPr>
        <p:spPr>
          <a:xfrm>
            <a:off x="14000827" y="4607658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explanations</a:t>
            </a:r>
          </a:p>
        </p:txBody>
      </p:sp>
      <p:cxnSp>
        <p:nvCxnSpPr>
          <p:cNvPr id="457" name="Curved Connector 456">
            <a:extLst>
              <a:ext uri="{FF2B5EF4-FFF2-40B4-BE49-F238E27FC236}">
                <a16:creationId xmlns:a16="http://schemas.microsoft.com/office/drawing/2014/main" id="{DE8F1023-BEF8-19C9-FEE7-ECF913A70030}"/>
              </a:ext>
            </a:extLst>
          </p:cNvPr>
          <p:cNvCxnSpPr>
            <a:cxnSpLocks/>
            <a:stCxn id="47" idx="2"/>
            <a:endCxn id="456" idx="0"/>
          </p:cNvCxnSpPr>
          <p:nvPr/>
        </p:nvCxnSpPr>
        <p:spPr>
          <a:xfrm rot="5400000">
            <a:off x="14881483" y="3879614"/>
            <a:ext cx="446543" cy="10095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0" name="Rounded Rectangle 459">
            <a:extLst>
              <a:ext uri="{FF2B5EF4-FFF2-40B4-BE49-F238E27FC236}">
                <a16:creationId xmlns:a16="http://schemas.microsoft.com/office/drawing/2014/main" id="{68633A15-1085-12D3-1227-E8831F047DD6}"/>
              </a:ext>
            </a:extLst>
          </p:cNvPr>
          <p:cNvSpPr/>
          <p:nvPr/>
        </p:nvSpPr>
        <p:spPr>
          <a:xfrm>
            <a:off x="16085309" y="4639119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Upskill recommender</a:t>
            </a:r>
          </a:p>
        </p:txBody>
      </p:sp>
      <p:cxnSp>
        <p:nvCxnSpPr>
          <p:cNvPr id="461" name="Curved Connector 460">
            <a:extLst>
              <a:ext uri="{FF2B5EF4-FFF2-40B4-BE49-F238E27FC236}">
                <a16:creationId xmlns:a16="http://schemas.microsoft.com/office/drawing/2014/main" id="{1C186A1F-8F89-8672-2B8D-0D42435C4BFB}"/>
              </a:ext>
            </a:extLst>
          </p:cNvPr>
          <p:cNvCxnSpPr>
            <a:cxnSpLocks/>
            <a:stCxn id="47" idx="2"/>
            <a:endCxn id="460" idx="0"/>
          </p:cNvCxnSpPr>
          <p:nvPr/>
        </p:nvCxnSpPr>
        <p:spPr>
          <a:xfrm rot="16200000" flipH="1">
            <a:off x="15907992" y="3862648"/>
            <a:ext cx="478004" cy="107493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0" name="Rounded Rectangle 469">
            <a:extLst>
              <a:ext uri="{FF2B5EF4-FFF2-40B4-BE49-F238E27FC236}">
                <a16:creationId xmlns:a16="http://schemas.microsoft.com/office/drawing/2014/main" id="{814E824B-B8DE-50CE-90B1-91D5D99282EE}"/>
              </a:ext>
            </a:extLst>
          </p:cNvPr>
          <p:cNvSpPr/>
          <p:nvPr/>
        </p:nvSpPr>
        <p:spPr>
          <a:xfrm>
            <a:off x="15095083" y="2322663"/>
            <a:ext cx="1037572" cy="608551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probability matrix</a:t>
            </a:r>
          </a:p>
        </p:txBody>
      </p:sp>
      <p:cxnSp>
        <p:nvCxnSpPr>
          <p:cNvPr id="471" name="Curved Connector 470">
            <a:extLst>
              <a:ext uri="{FF2B5EF4-FFF2-40B4-BE49-F238E27FC236}">
                <a16:creationId xmlns:a16="http://schemas.microsoft.com/office/drawing/2014/main" id="{46A891DB-9580-F917-07CF-38322B50FAFE}"/>
              </a:ext>
            </a:extLst>
          </p:cNvPr>
          <p:cNvCxnSpPr>
            <a:cxnSpLocks/>
            <a:stCxn id="442" idx="3"/>
            <a:endCxn id="470" idx="0"/>
          </p:cNvCxnSpPr>
          <p:nvPr/>
        </p:nvCxnSpPr>
        <p:spPr>
          <a:xfrm>
            <a:off x="15140850" y="2033473"/>
            <a:ext cx="473019" cy="28919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urved Connector 473">
            <a:extLst>
              <a:ext uri="{FF2B5EF4-FFF2-40B4-BE49-F238E27FC236}">
                <a16:creationId xmlns:a16="http://schemas.microsoft.com/office/drawing/2014/main" id="{4B9CA191-D8DE-6C47-CFF9-12C6C91F2015}"/>
              </a:ext>
            </a:extLst>
          </p:cNvPr>
          <p:cNvCxnSpPr>
            <a:cxnSpLocks/>
            <a:stCxn id="470" idx="3"/>
            <a:endCxn id="460" idx="0"/>
          </p:cNvCxnSpPr>
          <p:nvPr/>
        </p:nvCxnSpPr>
        <p:spPr>
          <a:xfrm>
            <a:off x="16132655" y="2626939"/>
            <a:ext cx="551808" cy="201218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urved Connector 477">
            <a:extLst>
              <a:ext uri="{FF2B5EF4-FFF2-40B4-BE49-F238E27FC236}">
                <a16:creationId xmlns:a16="http://schemas.microsoft.com/office/drawing/2014/main" id="{4D26F54B-8886-D975-CD30-A204EB54150D}"/>
              </a:ext>
            </a:extLst>
          </p:cNvPr>
          <p:cNvCxnSpPr>
            <a:cxnSpLocks/>
            <a:stCxn id="470" idx="2"/>
            <a:endCxn id="47" idx="0"/>
          </p:cNvCxnSpPr>
          <p:nvPr/>
        </p:nvCxnSpPr>
        <p:spPr>
          <a:xfrm rot="5400000">
            <a:off x="15256663" y="3284078"/>
            <a:ext cx="710071" cy="434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Doughnut 3">
            <a:extLst>
              <a:ext uri="{FF2B5EF4-FFF2-40B4-BE49-F238E27FC236}">
                <a16:creationId xmlns:a16="http://schemas.microsoft.com/office/drawing/2014/main" id="{4747E936-88FD-FAD4-925C-7EBC74E19678}"/>
              </a:ext>
            </a:extLst>
          </p:cNvPr>
          <p:cNvSpPr/>
          <p:nvPr/>
        </p:nvSpPr>
        <p:spPr>
          <a:xfrm>
            <a:off x="4676708" y="8454240"/>
            <a:ext cx="1585481" cy="1554194"/>
          </a:xfrm>
          <a:prstGeom prst="donut">
            <a:avLst>
              <a:gd name="adj" fmla="val 10462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Doughnut 4">
            <a:extLst>
              <a:ext uri="{FF2B5EF4-FFF2-40B4-BE49-F238E27FC236}">
                <a16:creationId xmlns:a16="http://schemas.microsoft.com/office/drawing/2014/main" id="{FFD59652-D028-07BF-1DE0-E01541D9386B}"/>
              </a:ext>
            </a:extLst>
          </p:cNvPr>
          <p:cNvSpPr/>
          <p:nvPr/>
        </p:nvSpPr>
        <p:spPr>
          <a:xfrm>
            <a:off x="6301713" y="8462407"/>
            <a:ext cx="1585481" cy="1554194"/>
          </a:xfrm>
          <a:prstGeom prst="donut">
            <a:avLst>
              <a:gd name="adj" fmla="val 10462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oughnut 5">
            <a:extLst>
              <a:ext uri="{FF2B5EF4-FFF2-40B4-BE49-F238E27FC236}">
                <a16:creationId xmlns:a16="http://schemas.microsoft.com/office/drawing/2014/main" id="{FD3FC578-630B-C8A3-0233-F5DE2B71CCD6}"/>
              </a:ext>
            </a:extLst>
          </p:cNvPr>
          <p:cNvSpPr/>
          <p:nvPr/>
        </p:nvSpPr>
        <p:spPr>
          <a:xfrm>
            <a:off x="7231896" y="7727551"/>
            <a:ext cx="1585481" cy="1554194"/>
          </a:xfrm>
          <a:prstGeom prst="donut">
            <a:avLst>
              <a:gd name="adj" fmla="val 10462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Doughnut 6">
            <a:extLst>
              <a:ext uri="{FF2B5EF4-FFF2-40B4-BE49-F238E27FC236}">
                <a16:creationId xmlns:a16="http://schemas.microsoft.com/office/drawing/2014/main" id="{8872300E-C565-F17B-E75B-7BDB3489682A}"/>
              </a:ext>
            </a:extLst>
          </p:cNvPr>
          <p:cNvSpPr/>
          <p:nvPr/>
        </p:nvSpPr>
        <p:spPr>
          <a:xfrm>
            <a:off x="4678493" y="4383742"/>
            <a:ext cx="1585481" cy="1554194"/>
          </a:xfrm>
          <a:prstGeom prst="donut">
            <a:avLst>
              <a:gd name="adj" fmla="val 10462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C523F18-B7C2-1CE1-8070-AF08CC91BE7E}"/>
              </a:ext>
            </a:extLst>
          </p:cNvPr>
          <p:cNvSpPr/>
          <p:nvPr/>
        </p:nvSpPr>
        <p:spPr>
          <a:xfrm>
            <a:off x="15823274" y="5635438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Best upskilling (ROI-based)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D9DF861-A342-9163-D746-CD1D109DE912}"/>
              </a:ext>
            </a:extLst>
          </p:cNvPr>
          <p:cNvSpPr/>
          <p:nvPr/>
        </p:nvSpPr>
        <p:spPr>
          <a:xfrm>
            <a:off x="14376567" y="5622914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Best and stretch job matches</a:t>
            </a:r>
          </a:p>
        </p:txBody>
      </p:sp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13F1FBB2-88B5-368A-8964-6286BF9247E0}"/>
              </a:ext>
            </a:extLst>
          </p:cNvPr>
          <p:cNvCxnSpPr>
            <a:cxnSpLocks/>
            <a:stCxn id="47" idx="2"/>
            <a:endCxn id="3" idx="0"/>
          </p:cNvCxnSpPr>
          <p:nvPr/>
        </p:nvCxnSpPr>
        <p:spPr>
          <a:xfrm rot="5400000">
            <a:off x="14521541" y="4534928"/>
            <a:ext cx="1461799" cy="714173"/>
          </a:xfrm>
          <a:prstGeom prst="curvedConnector3">
            <a:avLst>
              <a:gd name="adj1" fmla="val 7014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urved Connector 12">
            <a:extLst>
              <a:ext uri="{FF2B5EF4-FFF2-40B4-BE49-F238E27FC236}">
                <a16:creationId xmlns:a16="http://schemas.microsoft.com/office/drawing/2014/main" id="{9B3B0569-8041-0660-29A1-9B65ABF89704}"/>
              </a:ext>
            </a:extLst>
          </p:cNvPr>
          <p:cNvCxnSpPr>
            <a:cxnSpLocks/>
            <a:stCxn id="460" idx="2"/>
            <a:endCxn id="2" idx="0"/>
          </p:cNvCxnSpPr>
          <p:nvPr/>
        </p:nvCxnSpPr>
        <p:spPr>
          <a:xfrm rot="5400000">
            <a:off x="16275018" y="5225992"/>
            <a:ext cx="476489" cy="34240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262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6B93641-EBF1-2E39-301E-1774FCCA402E}"/>
              </a:ext>
            </a:extLst>
          </p:cNvPr>
          <p:cNvSpPr/>
          <p:nvPr/>
        </p:nvSpPr>
        <p:spPr>
          <a:xfrm>
            <a:off x="505643" y="4047997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Raw data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2898343-A09A-0A8D-3047-D51ED2126A51}"/>
              </a:ext>
            </a:extLst>
          </p:cNvPr>
          <p:cNvSpPr/>
          <p:nvPr/>
        </p:nvSpPr>
        <p:spPr>
          <a:xfrm>
            <a:off x="1790590" y="4999444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Semantics</a:t>
            </a:r>
          </a:p>
          <a:p>
            <a:pPr algn="ctr"/>
            <a:r>
              <a:rPr lang="en-US" sz="1200" dirty="0"/>
              <a:t>(Title norm)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B215B61-91EB-510E-F8DE-0C10D9E69EF4}"/>
              </a:ext>
            </a:extLst>
          </p:cNvPr>
          <p:cNvSpPr/>
          <p:nvPr/>
        </p:nvSpPr>
        <p:spPr>
          <a:xfrm>
            <a:off x="1790590" y="3096550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extraction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4AC411-8FAB-4CDE-F93F-3C53CD82821C}"/>
              </a:ext>
            </a:extLst>
          </p:cNvPr>
          <p:cNvSpPr/>
          <p:nvPr/>
        </p:nvSpPr>
        <p:spPr>
          <a:xfrm>
            <a:off x="3254487" y="4047997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 data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12A2C27-C6E6-349C-1C9F-46DC4E014672}"/>
              </a:ext>
            </a:extLst>
          </p:cNvPr>
          <p:cNvSpPr/>
          <p:nvPr/>
        </p:nvSpPr>
        <p:spPr>
          <a:xfrm>
            <a:off x="1790590" y="404799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Cleaning and engineering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30D3D1C-0F96-2FAA-6727-EF73AD49AF55}"/>
              </a:ext>
            </a:extLst>
          </p:cNvPr>
          <p:cNvSpPr/>
          <p:nvPr/>
        </p:nvSpPr>
        <p:spPr>
          <a:xfrm>
            <a:off x="4718384" y="4687086"/>
            <a:ext cx="1340972" cy="624716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Salary model</a:t>
            </a:r>
          </a:p>
          <a:p>
            <a:pPr algn="ctr"/>
            <a:r>
              <a:rPr lang="en-US" sz="1200" dirty="0" err="1"/>
              <a:t>XGBRegresssor</a:t>
            </a:r>
            <a:endParaRPr lang="en-US" sz="120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0567925-0F32-96D3-EF81-83BDFF6E8671}"/>
              </a:ext>
            </a:extLst>
          </p:cNvPr>
          <p:cNvSpPr/>
          <p:nvPr/>
        </p:nvSpPr>
        <p:spPr>
          <a:xfrm>
            <a:off x="4718384" y="3528167"/>
            <a:ext cx="129011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model</a:t>
            </a:r>
          </a:p>
          <a:p>
            <a:pPr algn="ctr"/>
            <a:r>
              <a:rPr lang="en-US" sz="1200" dirty="0" err="1"/>
              <a:t>LGBMClassifier</a:t>
            </a:r>
            <a:endParaRPr lang="en-US" sz="120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AFA06F6-8207-D001-3BCC-33E1D404F9C0}"/>
              </a:ext>
            </a:extLst>
          </p:cNvPr>
          <p:cNvSpPr/>
          <p:nvPr/>
        </p:nvSpPr>
        <p:spPr>
          <a:xfrm>
            <a:off x="6536236" y="4791972"/>
            <a:ext cx="1180151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43F49-011B-A25C-F0F7-A235C0BB1577}"/>
              </a:ext>
            </a:extLst>
          </p:cNvPr>
          <p:cNvSpPr/>
          <p:nvPr/>
        </p:nvSpPr>
        <p:spPr>
          <a:xfrm>
            <a:off x="6536236" y="3483806"/>
            <a:ext cx="1037572" cy="608551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probability matrix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271F-23A7-0532-4C09-CB730EE9628A}"/>
              </a:ext>
            </a:extLst>
          </p:cNvPr>
          <p:cNvSpPr/>
          <p:nvPr/>
        </p:nvSpPr>
        <p:spPr>
          <a:xfrm>
            <a:off x="8386419" y="6178260"/>
            <a:ext cx="1545077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Graph</a:t>
            </a:r>
          </a:p>
          <a:p>
            <a:pPr algn="ctr"/>
            <a:r>
              <a:rPr lang="en-US" sz="1200" dirty="0" err="1"/>
              <a:t>Networkx</a:t>
            </a:r>
            <a:r>
              <a:rPr lang="en-US" sz="1200" dirty="0"/>
              <a:t> bipartite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96865D7-CEFA-216E-F656-6567E1F81E80}"/>
              </a:ext>
            </a:extLst>
          </p:cNvPr>
          <p:cNvSpPr/>
          <p:nvPr/>
        </p:nvSpPr>
        <p:spPr>
          <a:xfrm>
            <a:off x="10192853" y="6178260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Embeddings</a:t>
            </a:r>
          </a:p>
          <a:p>
            <a:pPr algn="ctr"/>
            <a:r>
              <a:rPr lang="en-US" sz="1200" dirty="0"/>
              <a:t>Node2vec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E25024D-AF7F-AE07-A573-C9D0E0634632}"/>
              </a:ext>
            </a:extLst>
          </p:cNvPr>
          <p:cNvSpPr/>
          <p:nvPr/>
        </p:nvSpPr>
        <p:spPr>
          <a:xfrm>
            <a:off x="11634361" y="6178260"/>
            <a:ext cx="114593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Clustering</a:t>
            </a:r>
          </a:p>
          <a:p>
            <a:pPr algn="ctr"/>
            <a:r>
              <a:rPr lang="en-US" sz="1200" dirty="0" err="1"/>
              <a:t>Kmeans</a:t>
            </a:r>
            <a:endParaRPr lang="en-US" sz="1200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6B6D72F-4FEC-6089-2206-BEE3ABE50E93}"/>
              </a:ext>
            </a:extLst>
          </p:cNvPr>
          <p:cNvSpPr/>
          <p:nvPr/>
        </p:nvSpPr>
        <p:spPr>
          <a:xfrm>
            <a:off x="13054528" y="7294053"/>
            <a:ext cx="1180151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families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E935E48-9533-17C8-3DE6-EB4E842893CE}"/>
              </a:ext>
            </a:extLst>
          </p:cNvPr>
          <p:cNvSpPr/>
          <p:nvPr/>
        </p:nvSpPr>
        <p:spPr>
          <a:xfrm>
            <a:off x="13019268" y="6382723"/>
            <a:ext cx="1180151" cy="630734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co-occurrence network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DDDA086-8244-3B7F-3B9A-D5521CC3A7D4}"/>
              </a:ext>
            </a:extLst>
          </p:cNvPr>
          <p:cNvSpPr/>
          <p:nvPr/>
        </p:nvSpPr>
        <p:spPr>
          <a:xfrm>
            <a:off x="13019268" y="5582297"/>
            <a:ext cx="1180151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C1B5791-6C77-3F14-5C12-B35055B774A9}"/>
              </a:ext>
            </a:extLst>
          </p:cNvPr>
          <p:cNvSpPr/>
          <p:nvPr/>
        </p:nvSpPr>
        <p:spPr>
          <a:xfrm>
            <a:off x="8390274" y="2612818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 profile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3A8DEC6-2F55-D2EF-AF2E-6482BB7C5EBA}"/>
              </a:ext>
            </a:extLst>
          </p:cNvPr>
          <p:cNvSpPr/>
          <p:nvPr/>
        </p:nvSpPr>
        <p:spPr>
          <a:xfrm>
            <a:off x="9706479" y="1947178"/>
            <a:ext cx="1401019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Competitiveness index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6E37084-5ED2-AA27-E826-F780EC351C63}"/>
              </a:ext>
            </a:extLst>
          </p:cNvPr>
          <p:cNvSpPr/>
          <p:nvPr/>
        </p:nvSpPr>
        <p:spPr>
          <a:xfrm>
            <a:off x="9905815" y="303495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Suitability index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8F12E21-A9AE-AEBC-8E6B-34C4127176CA}"/>
              </a:ext>
            </a:extLst>
          </p:cNvPr>
          <p:cNvSpPr/>
          <p:nvPr/>
        </p:nvSpPr>
        <p:spPr>
          <a:xfrm>
            <a:off x="11421356" y="2576720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Positioning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263CA98-47CF-0997-7CBF-37EE9C1FE60F}"/>
              </a:ext>
            </a:extLst>
          </p:cNvPr>
          <p:cNvSpPr/>
          <p:nvPr/>
        </p:nvSpPr>
        <p:spPr>
          <a:xfrm>
            <a:off x="14070920" y="2207093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recommender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F2728D7-B8C3-6C62-EF6B-E61F05C37100}"/>
              </a:ext>
            </a:extLst>
          </p:cNvPr>
          <p:cNvSpPr/>
          <p:nvPr/>
        </p:nvSpPr>
        <p:spPr>
          <a:xfrm>
            <a:off x="15682912" y="2298576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Upskill recommender</a:t>
            </a:r>
          </a:p>
        </p:txBody>
      </p:sp>
    </p:spTree>
    <p:extLst>
      <p:ext uri="{BB962C8B-B14F-4D97-AF65-F5344CB8AC3E}">
        <p14:creationId xmlns:p14="http://schemas.microsoft.com/office/powerpoint/2010/main" val="39077768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353</TotalTime>
  <Words>177</Words>
  <Application>Microsoft Macintosh PowerPoint</Application>
  <PresentationFormat>Custom</PresentationFormat>
  <Paragraphs>90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Alejandro de la Fuente Pinero</dc:creator>
  <cp:lastModifiedBy>Alejandro de la Fuente Pinero</cp:lastModifiedBy>
  <cp:revision>6</cp:revision>
  <dcterms:created xsi:type="dcterms:W3CDTF">2025-12-26T23:46:41Z</dcterms:created>
  <dcterms:modified xsi:type="dcterms:W3CDTF">2025-12-29T07:10:57Z</dcterms:modified>
</cp:coreProperties>
</file>