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7610138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0D4"/>
    <a:srgbClr val="489E7D"/>
    <a:srgbClr val="007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94"/>
    <p:restoredTop sz="94743"/>
  </p:normalViewPr>
  <p:slideViewPr>
    <p:cSldViewPr snapToGrid="0">
      <p:cViewPr varScale="1">
        <p:scale>
          <a:sx n="91" d="100"/>
          <a:sy n="91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1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5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5" y="6629225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82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8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7" y="2637014"/>
            <a:ext cx="7484309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2" y="2637014"/>
            <a:ext cx="7484309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1" y="527404"/>
            <a:ext cx="15188744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7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2"/>
            <a:ext cx="744991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7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2"/>
            <a:ext cx="7486602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8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5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3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3" y="1426281"/>
            <a:ext cx="8915132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6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3" y="1426281"/>
            <a:ext cx="8915132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2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4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7" y="527403"/>
            <a:ext cx="11171431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0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7" y="527404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7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7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F2C0D-35DE-C142-87D7-63D989E280B6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58" y="9181395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0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1CA17-7F06-0245-8E9E-CD1BD1878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ounded Rectangle 478">
            <a:extLst>
              <a:ext uri="{FF2B5EF4-FFF2-40B4-BE49-F238E27FC236}">
                <a16:creationId xmlns:a16="http://schemas.microsoft.com/office/drawing/2014/main" id="{6967D682-3E21-BB3E-24B7-DE482217809A}"/>
              </a:ext>
            </a:extLst>
          </p:cNvPr>
          <p:cNvSpPr/>
          <p:nvPr/>
        </p:nvSpPr>
        <p:spPr>
          <a:xfrm>
            <a:off x="412646" y="0"/>
            <a:ext cx="7677254" cy="6193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Guidelines</a:t>
            </a:r>
          </a:p>
        </p:txBody>
      </p:sp>
      <p:sp>
        <p:nvSpPr>
          <p:cNvPr id="465" name="Rounded Rectangle 464">
            <a:extLst>
              <a:ext uri="{FF2B5EF4-FFF2-40B4-BE49-F238E27FC236}">
                <a16:creationId xmlns:a16="http://schemas.microsoft.com/office/drawing/2014/main" id="{3F0F656C-1662-E490-07E7-2B436486BD30}"/>
              </a:ext>
            </a:extLst>
          </p:cNvPr>
          <p:cNvSpPr/>
          <p:nvPr/>
        </p:nvSpPr>
        <p:spPr>
          <a:xfrm>
            <a:off x="13353993" y="660400"/>
            <a:ext cx="4285953" cy="627648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ounded Rectangle 391">
            <a:extLst>
              <a:ext uri="{FF2B5EF4-FFF2-40B4-BE49-F238E27FC236}">
                <a16:creationId xmlns:a16="http://schemas.microsoft.com/office/drawing/2014/main" id="{A1ECB7F0-16B7-797A-CB86-796E695F872F}"/>
              </a:ext>
            </a:extLst>
          </p:cNvPr>
          <p:cNvSpPr/>
          <p:nvPr/>
        </p:nvSpPr>
        <p:spPr>
          <a:xfrm>
            <a:off x="8746115" y="660400"/>
            <a:ext cx="4540117" cy="911649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F6B2FC80-942D-6472-5A67-2E7A0647BF7D}"/>
              </a:ext>
            </a:extLst>
          </p:cNvPr>
          <p:cNvSpPr/>
          <p:nvPr/>
        </p:nvSpPr>
        <p:spPr>
          <a:xfrm>
            <a:off x="64194" y="660400"/>
            <a:ext cx="4241343" cy="909628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6F288F0-2708-74B1-3254-EB3371CE7831}"/>
              </a:ext>
            </a:extLst>
          </p:cNvPr>
          <p:cNvSpPr/>
          <p:nvPr/>
        </p:nvSpPr>
        <p:spPr>
          <a:xfrm>
            <a:off x="4370685" y="6003429"/>
            <a:ext cx="4285954" cy="37532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7FA648E3-5F24-6D2D-5446-E5461AA104C3}"/>
              </a:ext>
            </a:extLst>
          </p:cNvPr>
          <p:cNvSpPr/>
          <p:nvPr/>
        </p:nvSpPr>
        <p:spPr>
          <a:xfrm>
            <a:off x="4376338" y="660400"/>
            <a:ext cx="4285953" cy="526013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5E9E28F-0219-C5C5-80FC-48BFFAE43D18}"/>
              </a:ext>
            </a:extLst>
          </p:cNvPr>
          <p:cNvSpPr/>
          <p:nvPr/>
        </p:nvSpPr>
        <p:spPr>
          <a:xfrm>
            <a:off x="1620459" y="1779215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4CF756-5EB6-3EBA-559C-6BB41072034E}"/>
              </a:ext>
            </a:extLst>
          </p:cNvPr>
          <p:cNvSpPr/>
          <p:nvPr/>
        </p:nvSpPr>
        <p:spPr>
          <a:xfrm>
            <a:off x="487257" y="3045909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Semantics</a:t>
            </a:r>
          </a:p>
          <a:p>
            <a:pPr algn="ctr"/>
            <a:r>
              <a:rPr lang="en-US" sz="1200" dirty="0"/>
              <a:t>(Title norm)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55BE57-8782-9275-6319-EFE317DDE963}"/>
              </a:ext>
            </a:extLst>
          </p:cNvPr>
          <p:cNvSpPr/>
          <p:nvPr/>
        </p:nvSpPr>
        <p:spPr>
          <a:xfrm>
            <a:off x="3096876" y="5050592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extraction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587981-15EA-10D9-2E69-446E0FDBF547}"/>
              </a:ext>
            </a:extLst>
          </p:cNvPr>
          <p:cNvSpPr/>
          <p:nvPr/>
        </p:nvSpPr>
        <p:spPr>
          <a:xfrm>
            <a:off x="3090525" y="3045909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taxonomy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F278C51-1714-8B73-17B0-64F5B36BDAD1}"/>
              </a:ext>
            </a:extLst>
          </p:cNvPr>
          <p:cNvSpPr/>
          <p:nvPr/>
        </p:nvSpPr>
        <p:spPr>
          <a:xfrm>
            <a:off x="1666079" y="6417053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Seniority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A3DD752-EDC0-E3AF-20CD-6545D88A3609}"/>
              </a:ext>
            </a:extLst>
          </p:cNvPr>
          <p:cNvSpPr/>
          <p:nvPr/>
        </p:nvSpPr>
        <p:spPr>
          <a:xfrm>
            <a:off x="230506" y="6433930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Domain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993743-AA9F-5FA6-B71B-0BDD6CD52CB1}"/>
              </a:ext>
            </a:extLst>
          </p:cNvPr>
          <p:cNvSpPr/>
          <p:nvPr/>
        </p:nvSpPr>
        <p:spPr>
          <a:xfrm>
            <a:off x="1679604" y="7706928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Ch0 Pipeline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D9A7FCF-5B31-2431-90BB-1560EE74F93C}"/>
              </a:ext>
            </a:extLst>
          </p:cNvPr>
          <p:cNvSpPr/>
          <p:nvPr/>
        </p:nvSpPr>
        <p:spPr>
          <a:xfrm>
            <a:off x="1620459" y="828809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Raw data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9177346-6378-F53A-8130-A10CE9C940E8}"/>
              </a:ext>
            </a:extLst>
          </p:cNvPr>
          <p:cNvSpPr/>
          <p:nvPr/>
        </p:nvSpPr>
        <p:spPr>
          <a:xfrm>
            <a:off x="1670427" y="8506188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Processed data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B94380-6309-AB5F-080B-96432546B966}"/>
              </a:ext>
            </a:extLst>
          </p:cNvPr>
          <p:cNvSpPr/>
          <p:nvPr/>
        </p:nvSpPr>
        <p:spPr>
          <a:xfrm>
            <a:off x="4801842" y="2642961"/>
            <a:ext cx="1340972" cy="624716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Salary model</a:t>
            </a:r>
          </a:p>
          <a:p>
            <a:pPr algn="ctr"/>
            <a:r>
              <a:rPr lang="en-US" sz="1200" dirty="0" err="1"/>
              <a:t>XGBRegresssor</a:t>
            </a:r>
            <a:endParaRPr lang="en-US" sz="120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85E69FE-D336-F577-F917-CE22C2FCEECB}"/>
              </a:ext>
            </a:extLst>
          </p:cNvPr>
          <p:cNvSpPr/>
          <p:nvPr/>
        </p:nvSpPr>
        <p:spPr>
          <a:xfrm>
            <a:off x="7159007" y="2666460"/>
            <a:ext cx="1290113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model</a:t>
            </a:r>
          </a:p>
          <a:p>
            <a:pPr algn="ctr"/>
            <a:r>
              <a:rPr lang="en-US" sz="1200" dirty="0" err="1"/>
              <a:t>LGBMClassifier</a:t>
            </a:r>
            <a:endParaRPr lang="en-US" sz="12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7859FDF-684C-D762-9004-BEC4B91E6C65}"/>
              </a:ext>
            </a:extLst>
          </p:cNvPr>
          <p:cNvSpPr/>
          <p:nvPr/>
        </p:nvSpPr>
        <p:spPr>
          <a:xfrm>
            <a:off x="5275953" y="1749211"/>
            <a:ext cx="1037572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PCA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607E784-942B-9C2C-6BE1-B1762D368BFE}"/>
              </a:ext>
            </a:extLst>
          </p:cNvPr>
          <p:cNvSpPr/>
          <p:nvPr/>
        </p:nvSpPr>
        <p:spPr>
          <a:xfrm>
            <a:off x="4885870" y="3661995"/>
            <a:ext cx="1180151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Explainability suite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4BF50C2-8786-99D5-5548-21DB65651371}"/>
              </a:ext>
            </a:extLst>
          </p:cNvPr>
          <p:cNvSpPr/>
          <p:nvPr/>
        </p:nvSpPr>
        <p:spPr>
          <a:xfrm>
            <a:off x="4885870" y="4505139"/>
            <a:ext cx="1180151" cy="13037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Fairness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SHAP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PDP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Skill value ranking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D699941-884B-5310-6532-337D96F6E841}"/>
              </a:ext>
            </a:extLst>
          </p:cNvPr>
          <p:cNvSpPr/>
          <p:nvPr/>
        </p:nvSpPr>
        <p:spPr>
          <a:xfrm>
            <a:off x="7285277" y="4139429"/>
            <a:ext cx="1037572" cy="60855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probability matrix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F2B18C7-66B0-89E1-FDAD-6C8451FCE4B1}"/>
              </a:ext>
            </a:extLst>
          </p:cNvPr>
          <p:cNvSpPr/>
          <p:nvPr/>
        </p:nvSpPr>
        <p:spPr>
          <a:xfrm>
            <a:off x="5794739" y="6157138"/>
            <a:ext cx="1545077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Graph</a:t>
            </a:r>
          </a:p>
          <a:p>
            <a:pPr algn="ctr"/>
            <a:r>
              <a:rPr lang="en-US" sz="1200" dirty="0" err="1"/>
              <a:t>Networkx</a:t>
            </a:r>
            <a:r>
              <a:rPr lang="en-US" sz="1200" dirty="0"/>
              <a:t> bipartite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9C21D99-9131-F15E-3A9A-39AF5A9CDBD7}"/>
              </a:ext>
            </a:extLst>
          </p:cNvPr>
          <p:cNvSpPr/>
          <p:nvPr/>
        </p:nvSpPr>
        <p:spPr>
          <a:xfrm>
            <a:off x="6749741" y="7039270"/>
            <a:ext cx="1180151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Embeddings</a:t>
            </a:r>
          </a:p>
          <a:p>
            <a:pPr algn="ctr"/>
            <a:r>
              <a:rPr lang="en-US" sz="1200" dirty="0"/>
              <a:t>Node2vec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F791419-6094-108C-29DB-3BFDC51A9D1C}"/>
              </a:ext>
            </a:extLst>
          </p:cNvPr>
          <p:cNvSpPr/>
          <p:nvPr/>
        </p:nvSpPr>
        <p:spPr>
          <a:xfrm>
            <a:off x="4870810" y="7039270"/>
            <a:ext cx="1145933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Clustering</a:t>
            </a:r>
          </a:p>
          <a:p>
            <a:pPr algn="ctr"/>
            <a:r>
              <a:rPr lang="en-US" sz="1200" dirty="0" err="1"/>
              <a:t>Kmeans</a:t>
            </a:r>
            <a:endParaRPr lang="en-US" sz="12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1286C61-3033-0903-8610-7254D3DBEC4F}"/>
              </a:ext>
            </a:extLst>
          </p:cNvPr>
          <p:cNvSpPr/>
          <p:nvPr/>
        </p:nvSpPr>
        <p:spPr>
          <a:xfrm>
            <a:off x="4751155" y="8887913"/>
            <a:ext cx="1408511" cy="68084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specialization map (Lift)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30758BF-7A46-C911-7C07-79C5592CF675}"/>
              </a:ext>
            </a:extLst>
          </p:cNvPr>
          <p:cNvSpPr/>
          <p:nvPr/>
        </p:nvSpPr>
        <p:spPr>
          <a:xfrm>
            <a:off x="5999292" y="7957052"/>
            <a:ext cx="1180151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Job families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9E786D9-8B3D-8335-B480-77A211FDEE18}"/>
              </a:ext>
            </a:extLst>
          </p:cNvPr>
          <p:cNvSpPr/>
          <p:nvPr/>
        </p:nvSpPr>
        <p:spPr>
          <a:xfrm>
            <a:off x="7356900" y="7957052"/>
            <a:ext cx="1180151" cy="63073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co-occurrence network</a:t>
            </a:r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2D9ACBB6-221D-25AC-4777-673E4A264641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rot="16200000" flipH="1">
            <a:off x="2500846" y="1937444"/>
            <a:ext cx="746864" cy="147006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678B169-F1B0-0C66-D76E-E21843391FA5}"/>
              </a:ext>
            </a:extLst>
          </p:cNvPr>
          <p:cNvSpPr/>
          <p:nvPr/>
        </p:nvSpPr>
        <p:spPr>
          <a:xfrm>
            <a:off x="9412710" y="828809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 profile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90149CF-FDB2-EF98-5837-FD9FBB28BBA6}"/>
              </a:ext>
            </a:extLst>
          </p:cNvPr>
          <p:cNvSpPr/>
          <p:nvPr/>
        </p:nvSpPr>
        <p:spPr>
          <a:xfrm>
            <a:off x="9282753" y="2039130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gap analysis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8C04299-7752-A68B-5628-E1C282A1BAD2}"/>
              </a:ext>
            </a:extLst>
          </p:cNvPr>
          <p:cNvSpPr/>
          <p:nvPr/>
        </p:nvSpPr>
        <p:spPr>
          <a:xfrm>
            <a:off x="11551746" y="1981560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Candidate positioning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8D52BB4-5143-E7EA-A2F0-F0047A919FF5}"/>
              </a:ext>
            </a:extLst>
          </p:cNvPr>
          <p:cNvSpPr/>
          <p:nvPr/>
        </p:nvSpPr>
        <p:spPr>
          <a:xfrm>
            <a:off x="9518913" y="5192644"/>
            <a:ext cx="1401019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Competitiveness index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0F21BC8-4A5A-E939-DED2-133CB47AB040}"/>
              </a:ext>
            </a:extLst>
          </p:cNvPr>
          <p:cNvSpPr/>
          <p:nvPr/>
        </p:nvSpPr>
        <p:spPr>
          <a:xfrm>
            <a:off x="9055350" y="2851545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rarity analysis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4330251-31F3-4532-4BB9-BDBDA812D625}"/>
              </a:ext>
            </a:extLst>
          </p:cNvPr>
          <p:cNvSpPr/>
          <p:nvPr/>
        </p:nvSpPr>
        <p:spPr>
          <a:xfrm>
            <a:off x="11417339" y="5192644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Suitability index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E0164F51-CD09-37E0-3C5B-575F00E1DD6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1199212" y="2105876"/>
            <a:ext cx="746864" cy="11332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A393464-3E7E-B600-2ECD-26DB6F5D31E8}"/>
              </a:ext>
            </a:extLst>
          </p:cNvPr>
          <p:cNvSpPr/>
          <p:nvPr/>
        </p:nvSpPr>
        <p:spPr>
          <a:xfrm>
            <a:off x="12121519" y="4057169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match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29E1F33-07DC-A565-933F-1FBC34BC6FF1}"/>
              </a:ext>
            </a:extLst>
          </p:cNvPr>
          <p:cNvSpPr/>
          <p:nvPr/>
        </p:nvSpPr>
        <p:spPr>
          <a:xfrm>
            <a:off x="10703921" y="4048249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Salary percentile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7D6323D-C0E2-1AD7-DD6F-FB7D3FFDAC01}"/>
              </a:ext>
            </a:extLst>
          </p:cNvPr>
          <p:cNvSpPr/>
          <p:nvPr/>
        </p:nvSpPr>
        <p:spPr>
          <a:xfrm>
            <a:off x="15010372" y="3347653"/>
            <a:ext cx="1198308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Job recommender</a:t>
            </a:r>
          </a:p>
        </p:txBody>
      </p: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7FF24430-75AC-2C93-065A-A43C14EAFF71}"/>
              </a:ext>
            </a:extLst>
          </p:cNvPr>
          <p:cNvCxnSpPr>
            <a:stCxn id="17" idx="2"/>
            <a:endCxn id="16" idx="0"/>
          </p:cNvCxnSpPr>
          <p:nvPr/>
        </p:nvCxnSpPr>
        <p:spPr>
          <a:xfrm rot="16200000" flipH="1">
            <a:off x="2870060" y="4304989"/>
            <a:ext cx="1484853" cy="63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857A23F3-20E8-0865-1C61-E6991F911CD4}"/>
              </a:ext>
            </a:extLst>
          </p:cNvPr>
          <p:cNvCxnSpPr>
            <a:cxnSpLocks/>
            <a:stCxn id="22" idx="3"/>
            <a:endCxn id="70" idx="1"/>
          </p:cNvCxnSpPr>
          <p:nvPr/>
        </p:nvCxnSpPr>
        <p:spPr>
          <a:xfrm>
            <a:off x="2658031" y="1088724"/>
            <a:ext cx="33921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F629E33-4630-E145-C298-33BD34B49439}"/>
              </a:ext>
            </a:extLst>
          </p:cNvPr>
          <p:cNvSpPr/>
          <p:nvPr/>
        </p:nvSpPr>
        <p:spPr>
          <a:xfrm>
            <a:off x="6050145" y="828809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Processed data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19844625-492A-8C7D-317C-1748BC0B88F2}"/>
              </a:ext>
            </a:extLst>
          </p:cNvPr>
          <p:cNvSpPr/>
          <p:nvPr/>
        </p:nvSpPr>
        <p:spPr>
          <a:xfrm>
            <a:off x="3096876" y="6449917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families</a:t>
            </a:r>
          </a:p>
        </p:txBody>
      </p: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22232B3E-16B6-E948-C82A-5A49424458E0}"/>
              </a:ext>
            </a:extLst>
          </p:cNvPr>
          <p:cNvCxnSpPr>
            <a:cxnSpLocks/>
            <a:stCxn id="16" idx="2"/>
            <a:endCxn id="72" idx="0"/>
          </p:cNvCxnSpPr>
          <p:nvPr/>
        </p:nvCxnSpPr>
        <p:spPr>
          <a:xfrm rot="5400000">
            <a:off x="3175915" y="6010169"/>
            <a:ext cx="87949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Left Brace 76">
            <a:extLst>
              <a:ext uri="{FF2B5EF4-FFF2-40B4-BE49-F238E27FC236}">
                <a16:creationId xmlns:a16="http://schemas.microsoft.com/office/drawing/2014/main" id="{E48F7B2C-9171-C6C0-496C-4D672D4D0AE3}"/>
              </a:ext>
            </a:extLst>
          </p:cNvPr>
          <p:cNvSpPr/>
          <p:nvPr/>
        </p:nvSpPr>
        <p:spPr>
          <a:xfrm rot="16200000">
            <a:off x="1947870" y="5376122"/>
            <a:ext cx="501041" cy="380972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055EE6CA-2817-D7CC-B542-EEAC233CD43A}"/>
              </a:ext>
            </a:extLst>
          </p:cNvPr>
          <p:cNvSpPr/>
          <p:nvPr/>
        </p:nvSpPr>
        <p:spPr>
          <a:xfrm>
            <a:off x="412646" y="4075263"/>
            <a:ext cx="1180151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Embeddings</a:t>
            </a:r>
          </a:p>
          <a:p>
            <a:pPr algn="ctr"/>
            <a:r>
              <a:rPr lang="en-US" sz="1200" dirty="0"/>
              <a:t>SBERT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8F9CD0C-5156-32D3-2B45-20FF8341522E}"/>
              </a:ext>
            </a:extLst>
          </p:cNvPr>
          <p:cNvSpPr/>
          <p:nvPr/>
        </p:nvSpPr>
        <p:spPr>
          <a:xfrm>
            <a:off x="412646" y="5109110"/>
            <a:ext cx="1180151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Clustering</a:t>
            </a:r>
          </a:p>
          <a:p>
            <a:pPr algn="ctr"/>
            <a:r>
              <a:rPr lang="en-US" sz="1200" dirty="0" err="1"/>
              <a:t>KMeans</a:t>
            </a:r>
            <a:endParaRPr lang="en-US" sz="1200" dirty="0"/>
          </a:p>
        </p:txBody>
      </p: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70A0A22A-F18A-C3B1-47F7-86BED75184F4}"/>
              </a:ext>
            </a:extLst>
          </p:cNvPr>
          <p:cNvCxnSpPr>
            <a:stCxn id="15" idx="2"/>
            <a:endCxn id="94" idx="0"/>
          </p:cNvCxnSpPr>
          <p:nvPr/>
        </p:nvCxnSpPr>
        <p:spPr>
          <a:xfrm rot="5400000">
            <a:off x="749621" y="3818841"/>
            <a:ext cx="509524" cy="332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urved Connector 102">
            <a:extLst>
              <a:ext uri="{FF2B5EF4-FFF2-40B4-BE49-F238E27FC236}">
                <a16:creationId xmlns:a16="http://schemas.microsoft.com/office/drawing/2014/main" id="{1EA457A1-1C65-EC34-3556-0C6CFA2DA2A9}"/>
              </a:ext>
            </a:extLst>
          </p:cNvPr>
          <p:cNvCxnSpPr>
            <a:stCxn id="94" idx="2"/>
            <a:endCxn id="95" idx="0"/>
          </p:cNvCxnSpPr>
          <p:nvPr/>
        </p:nvCxnSpPr>
        <p:spPr>
          <a:xfrm rot="5400000">
            <a:off x="745714" y="4852101"/>
            <a:ext cx="514017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95DE869F-A1E5-1849-0200-6024E5DDAA64}"/>
              </a:ext>
            </a:extLst>
          </p:cNvPr>
          <p:cNvCxnSpPr>
            <a:stCxn id="95" idx="2"/>
            <a:endCxn id="19" idx="0"/>
          </p:cNvCxnSpPr>
          <p:nvPr/>
        </p:nvCxnSpPr>
        <p:spPr>
          <a:xfrm rot="5400000">
            <a:off x="473512" y="5904720"/>
            <a:ext cx="804990" cy="25343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EE673B5C-B760-E7E8-2583-2006E00175EC}"/>
              </a:ext>
            </a:extLst>
          </p:cNvPr>
          <p:cNvCxnSpPr>
            <a:cxnSpLocks/>
            <a:stCxn id="15" idx="3"/>
            <a:endCxn id="18" idx="0"/>
          </p:cNvCxnSpPr>
          <p:nvPr/>
        </p:nvCxnSpPr>
        <p:spPr>
          <a:xfrm>
            <a:off x="1524829" y="3305824"/>
            <a:ext cx="660036" cy="311122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5BC1E5E4-E8EC-24A1-2461-EF43A3519726}"/>
              </a:ext>
            </a:extLst>
          </p:cNvPr>
          <p:cNvSpPr/>
          <p:nvPr/>
        </p:nvSpPr>
        <p:spPr>
          <a:xfrm>
            <a:off x="4569646" y="7837858"/>
            <a:ext cx="1180151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Explainability suite</a:t>
            </a:r>
          </a:p>
        </p:txBody>
      </p:sp>
      <p:cxnSp>
        <p:nvCxnSpPr>
          <p:cNvPr id="122" name="Curved Connector 121">
            <a:extLst>
              <a:ext uri="{FF2B5EF4-FFF2-40B4-BE49-F238E27FC236}">
                <a16:creationId xmlns:a16="http://schemas.microsoft.com/office/drawing/2014/main" id="{5690F494-13B5-4408-3C43-3F862BDD6CC3}"/>
              </a:ext>
            </a:extLst>
          </p:cNvPr>
          <p:cNvCxnSpPr>
            <a:cxnSpLocks/>
            <a:stCxn id="70" idx="2"/>
            <a:endCxn id="26" idx="0"/>
          </p:cNvCxnSpPr>
          <p:nvPr/>
        </p:nvCxnSpPr>
        <p:spPr>
          <a:xfrm rot="5400000">
            <a:off x="5981549" y="1161829"/>
            <a:ext cx="400572" cy="7741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9D3B716F-1262-96C8-E953-584720AFA3C9}"/>
              </a:ext>
            </a:extLst>
          </p:cNvPr>
          <p:cNvCxnSpPr>
            <a:cxnSpLocks/>
            <a:stCxn id="70" idx="2"/>
            <a:endCxn id="25" idx="0"/>
          </p:cNvCxnSpPr>
          <p:nvPr/>
        </p:nvCxnSpPr>
        <p:spPr>
          <a:xfrm rot="16200000" flipH="1">
            <a:off x="6527587" y="1389982"/>
            <a:ext cx="1317821" cy="123513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urved Connector 127">
            <a:extLst>
              <a:ext uri="{FF2B5EF4-FFF2-40B4-BE49-F238E27FC236}">
                <a16:creationId xmlns:a16="http://schemas.microsoft.com/office/drawing/2014/main" id="{D8B16117-FD04-CCFE-7C66-3DEC24A7818B}"/>
              </a:ext>
            </a:extLst>
          </p:cNvPr>
          <p:cNvCxnSpPr>
            <a:cxnSpLocks/>
            <a:stCxn id="70" idx="2"/>
            <a:endCxn id="24" idx="3"/>
          </p:cNvCxnSpPr>
          <p:nvPr/>
        </p:nvCxnSpPr>
        <p:spPr>
          <a:xfrm rot="5400000">
            <a:off x="5552533" y="1938921"/>
            <a:ext cx="1606680" cy="42611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urved Connector 134">
            <a:extLst>
              <a:ext uri="{FF2B5EF4-FFF2-40B4-BE49-F238E27FC236}">
                <a16:creationId xmlns:a16="http://schemas.microsoft.com/office/drawing/2014/main" id="{B7498CBC-BDBA-61A4-8478-9BE34F3F4253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 rot="16200000" flipH="1">
            <a:off x="5276978" y="3463027"/>
            <a:ext cx="394318" cy="361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urved Connector 138">
            <a:extLst>
              <a:ext uri="{FF2B5EF4-FFF2-40B4-BE49-F238E27FC236}">
                <a16:creationId xmlns:a16="http://schemas.microsoft.com/office/drawing/2014/main" id="{7C627020-DB37-F316-FF38-C195F96EE505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 rot="5400000">
            <a:off x="5314289" y="4343482"/>
            <a:ext cx="3233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urved Connector 142">
            <a:extLst>
              <a:ext uri="{FF2B5EF4-FFF2-40B4-BE49-F238E27FC236}">
                <a16:creationId xmlns:a16="http://schemas.microsoft.com/office/drawing/2014/main" id="{3028B6BE-DF48-608F-36A1-C195314180D9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rot="5400000">
            <a:off x="7327495" y="3662859"/>
            <a:ext cx="953139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urved Connector 146">
            <a:extLst>
              <a:ext uri="{FF2B5EF4-FFF2-40B4-BE49-F238E27FC236}">
                <a16:creationId xmlns:a16="http://schemas.microsoft.com/office/drawing/2014/main" id="{710A0258-A91E-0C3B-6C9E-40DC55872BF0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 rot="5400000">
            <a:off x="6481092" y="4834167"/>
            <a:ext cx="1409158" cy="1236785"/>
          </a:xfrm>
          <a:prstGeom prst="curvedConnector3">
            <a:avLst>
              <a:gd name="adj1" fmla="val 379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urved Connector 149">
            <a:extLst>
              <a:ext uri="{FF2B5EF4-FFF2-40B4-BE49-F238E27FC236}">
                <a16:creationId xmlns:a16="http://schemas.microsoft.com/office/drawing/2014/main" id="{A2812B3A-985C-6222-DE00-962FD40ED7FC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rot="16200000" flipH="1">
            <a:off x="6772396" y="6471849"/>
            <a:ext cx="362302" cy="7725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CD124E44-0D98-8464-E79E-242D99CF7182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rot="10800000">
            <a:off x="6016743" y="7299185"/>
            <a:ext cx="73299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urved Connector 157">
            <a:extLst>
              <a:ext uri="{FF2B5EF4-FFF2-40B4-BE49-F238E27FC236}">
                <a16:creationId xmlns:a16="http://schemas.microsoft.com/office/drawing/2014/main" id="{9460C77E-6B43-F422-5B6D-A433CAF93202}"/>
              </a:ext>
            </a:extLst>
          </p:cNvPr>
          <p:cNvCxnSpPr>
            <a:cxnSpLocks/>
            <a:stCxn id="33" idx="2"/>
            <a:endCxn id="114" idx="0"/>
          </p:cNvCxnSpPr>
          <p:nvPr/>
        </p:nvCxnSpPr>
        <p:spPr>
          <a:xfrm rot="5400000">
            <a:off x="5162371" y="7556452"/>
            <a:ext cx="278758" cy="2840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>
            <a:extLst>
              <a:ext uri="{FF2B5EF4-FFF2-40B4-BE49-F238E27FC236}">
                <a16:creationId xmlns:a16="http://schemas.microsoft.com/office/drawing/2014/main" id="{B57E9562-5A30-537D-C292-133662D86B12}"/>
              </a:ext>
            </a:extLst>
          </p:cNvPr>
          <p:cNvCxnSpPr>
            <a:cxnSpLocks/>
            <a:stCxn id="114" idx="2"/>
            <a:endCxn id="34" idx="0"/>
          </p:cNvCxnSpPr>
          <p:nvPr/>
        </p:nvCxnSpPr>
        <p:spPr>
          <a:xfrm rot="16200000" flipH="1">
            <a:off x="5042454" y="8474955"/>
            <a:ext cx="530225" cy="2956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urved Connector 165">
            <a:extLst>
              <a:ext uri="{FF2B5EF4-FFF2-40B4-BE49-F238E27FC236}">
                <a16:creationId xmlns:a16="http://schemas.microsoft.com/office/drawing/2014/main" id="{BB09E3E0-2ADD-A9DC-C00B-FE209AF41394}"/>
              </a:ext>
            </a:extLst>
          </p:cNvPr>
          <p:cNvCxnSpPr>
            <a:cxnSpLocks/>
            <a:endCxn id="35" idx="0"/>
          </p:cNvCxnSpPr>
          <p:nvPr/>
        </p:nvCxnSpPr>
        <p:spPr>
          <a:xfrm rot="16200000" flipH="1">
            <a:off x="5909684" y="7277368"/>
            <a:ext cx="689870" cy="6694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urved Connector 171">
            <a:extLst>
              <a:ext uri="{FF2B5EF4-FFF2-40B4-BE49-F238E27FC236}">
                <a16:creationId xmlns:a16="http://schemas.microsoft.com/office/drawing/2014/main" id="{2C32C205-70E2-19B6-3440-EFC28983E0BD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 rot="16200000" flipH="1">
            <a:off x="7444420" y="7454496"/>
            <a:ext cx="397952" cy="60715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urved Connector 174">
            <a:extLst>
              <a:ext uri="{FF2B5EF4-FFF2-40B4-BE49-F238E27FC236}">
                <a16:creationId xmlns:a16="http://schemas.microsoft.com/office/drawing/2014/main" id="{8C443B4D-5806-5C00-46E1-CA3022925417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rot="5400000">
            <a:off x="6765617" y="7382852"/>
            <a:ext cx="397952" cy="7504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urved Connector 191">
            <a:extLst>
              <a:ext uri="{FF2B5EF4-FFF2-40B4-BE49-F238E27FC236}">
                <a16:creationId xmlns:a16="http://schemas.microsoft.com/office/drawing/2014/main" id="{07043116-8C85-A7CA-8555-F197915B1067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5400000">
            <a:off x="2054087" y="8361885"/>
            <a:ext cx="279430" cy="91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urved Connector 221">
            <a:extLst>
              <a:ext uri="{FF2B5EF4-FFF2-40B4-BE49-F238E27FC236}">
                <a16:creationId xmlns:a16="http://schemas.microsoft.com/office/drawing/2014/main" id="{A280C531-BD40-CB46-0BAE-388ABAC62D5F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>
            <a:off x="6066021" y="3921911"/>
            <a:ext cx="1219256" cy="5217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urved Connector 237">
            <a:extLst>
              <a:ext uri="{FF2B5EF4-FFF2-40B4-BE49-F238E27FC236}">
                <a16:creationId xmlns:a16="http://schemas.microsoft.com/office/drawing/2014/main" id="{56DDAFCB-0802-4860-5FC0-009F68760934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rot="5400000">
            <a:off x="1923957" y="1563927"/>
            <a:ext cx="430576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2D6A947B-A407-A12B-8634-200AF8C6D8E3}"/>
              </a:ext>
            </a:extLst>
          </p:cNvPr>
          <p:cNvSpPr/>
          <p:nvPr/>
        </p:nvSpPr>
        <p:spPr>
          <a:xfrm>
            <a:off x="2216475" y="4118627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Cleaning and engineering</a:t>
            </a:r>
          </a:p>
        </p:txBody>
      </p:sp>
      <p:cxnSp>
        <p:nvCxnSpPr>
          <p:cNvPr id="251" name="Curved Connector 250">
            <a:extLst>
              <a:ext uri="{FF2B5EF4-FFF2-40B4-BE49-F238E27FC236}">
                <a16:creationId xmlns:a16="http://schemas.microsoft.com/office/drawing/2014/main" id="{07C06F9B-799C-8865-7207-51FB7E096D37}"/>
              </a:ext>
            </a:extLst>
          </p:cNvPr>
          <p:cNvCxnSpPr>
            <a:cxnSpLocks/>
            <a:stCxn id="14" idx="2"/>
            <a:endCxn id="241" idx="0"/>
          </p:cNvCxnSpPr>
          <p:nvPr/>
        </p:nvCxnSpPr>
        <p:spPr>
          <a:xfrm rot="16200000" flipH="1">
            <a:off x="1527462" y="2910828"/>
            <a:ext cx="1819582" cy="5960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urved Connector 263">
            <a:extLst>
              <a:ext uri="{FF2B5EF4-FFF2-40B4-BE49-F238E27FC236}">
                <a16:creationId xmlns:a16="http://schemas.microsoft.com/office/drawing/2014/main" id="{80AAE0DB-68E8-AABF-E7D1-4D546C4AC523}"/>
              </a:ext>
            </a:extLst>
          </p:cNvPr>
          <p:cNvCxnSpPr>
            <a:cxnSpLocks/>
            <a:stCxn id="26" idx="2"/>
            <a:endCxn id="24" idx="0"/>
          </p:cNvCxnSpPr>
          <p:nvPr/>
        </p:nvCxnSpPr>
        <p:spPr>
          <a:xfrm rot="5400000">
            <a:off x="5446574" y="2294796"/>
            <a:ext cx="373920" cy="3224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urved Connector 270">
            <a:extLst>
              <a:ext uri="{FF2B5EF4-FFF2-40B4-BE49-F238E27FC236}">
                <a16:creationId xmlns:a16="http://schemas.microsoft.com/office/drawing/2014/main" id="{E102086D-6D21-B4A9-E572-8A2E961AD604}"/>
              </a:ext>
            </a:extLst>
          </p:cNvPr>
          <p:cNvCxnSpPr>
            <a:cxnSpLocks/>
            <a:stCxn id="70" idx="3"/>
            <a:endCxn id="37" idx="1"/>
          </p:cNvCxnSpPr>
          <p:nvPr/>
        </p:nvCxnSpPr>
        <p:spPr>
          <a:xfrm>
            <a:off x="7087717" y="1088724"/>
            <a:ext cx="232499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0C0886E6-9080-8BB4-A5A6-BB27B084444C}"/>
              </a:ext>
            </a:extLst>
          </p:cNvPr>
          <p:cNvSpPr/>
          <p:nvPr/>
        </p:nvSpPr>
        <p:spPr>
          <a:xfrm>
            <a:off x="11376382" y="828807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Profile</a:t>
            </a:r>
          </a:p>
        </p:txBody>
      </p:sp>
      <p:sp>
        <p:nvSpPr>
          <p:cNvPr id="276" name="Rounded Rectangle 275">
            <a:extLst>
              <a:ext uri="{FF2B5EF4-FFF2-40B4-BE49-F238E27FC236}">
                <a16:creationId xmlns:a16="http://schemas.microsoft.com/office/drawing/2014/main" id="{F5A571D8-E014-64A2-B9F5-48493F346886}"/>
              </a:ext>
            </a:extLst>
          </p:cNvPr>
          <p:cNvSpPr/>
          <p:nvPr/>
        </p:nvSpPr>
        <p:spPr>
          <a:xfrm>
            <a:off x="11551746" y="2832556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Selected jobs</a:t>
            </a:r>
            <a:endParaRPr lang="en-US" sz="1200" dirty="0"/>
          </a:p>
        </p:txBody>
      </p:sp>
      <p:cxnSp>
        <p:nvCxnSpPr>
          <p:cNvPr id="277" name="Curved Connector 276">
            <a:extLst>
              <a:ext uri="{FF2B5EF4-FFF2-40B4-BE49-F238E27FC236}">
                <a16:creationId xmlns:a16="http://schemas.microsoft.com/office/drawing/2014/main" id="{83D4186B-6329-D50D-2D96-51B182535027}"/>
              </a:ext>
            </a:extLst>
          </p:cNvPr>
          <p:cNvCxnSpPr>
            <a:cxnSpLocks/>
            <a:stCxn id="37" idx="3"/>
            <a:endCxn id="275" idx="1"/>
          </p:cNvCxnSpPr>
          <p:nvPr/>
        </p:nvCxnSpPr>
        <p:spPr>
          <a:xfrm flipV="1">
            <a:off x="10450282" y="1088722"/>
            <a:ext cx="926100" cy="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urved Connector 279">
            <a:extLst>
              <a:ext uri="{FF2B5EF4-FFF2-40B4-BE49-F238E27FC236}">
                <a16:creationId xmlns:a16="http://schemas.microsoft.com/office/drawing/2014/main" id="{F628A2FD-CDA0-BDA0-1AD0-EF4F4FCFA213}"/>
              </a:ext>
            </a:extLst>
          </p:cNvPr>
          <p:cNvCxnSpPr>
            <a:cxnSpLocks/>
            <a:stCxn id="275" idx="2"/>
            <a:endCxn id="39" idx="0"/>
          </p:cNvCxnSpPr>
          <p:nvPr/>
        </p:nvCxnSpPr>
        <p:spPr>
          <a:xfrm rot="16200000" flipH="1">
            <a:off x="11666389" y="1577416"/>
            <a:ext cx="632923" cy="1753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urved Connector 282">
            <a:extLst>
              <a:ext uri="{FF2B5EF4-FFF2-40B4-BE49-F238E27FC236}">
                <a16:creationId xmlns:a16="http://schemas.microsoft.com/office/drawing/2014/main" id="{8F1A04FF-FA38-DAD2-158E-12947352EC7A}"/>
              </a:ext>
            </a:extLst>
          </p:cNvPr>
          <p:cNvCxnSpPr>
            <a:cxnSpLocks/>
            <a:stCxn id="39" idx="2"/>
            <a:endCxn id="276" idx="0"/>
          </p:cNvCxnSpPr>
          <p:nvPr/>
        </p:nvCxnSpPr>
        <p:spPr>
          <a:xfrm rot="5400000">
            <a:off x="11904949" y="2666973"/>
            <a:ext cx="331166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urved Connector 316">
            <a:extLst>
              <a:ext uri="{FF2B5EF4-FFF2-40B4-BE49-F238E27FC236}">
                <a16:creationId xmlns:a16="http://schemas.microsoft.com/office/drawing/2014/main" id="{460FEF78-5A0B-3C69-D5B6-92C1D803B93B}"/>
              </a:ext>
            </a:extLst>
          </p:cNvPr>
          <p:cNvCxnSpPr>
            <a:cxnSpLocks/>
            <a:stCxn id="30" idx="3"/>
            <a:endCxn id="38" idx="1"/>
          </p:cNvCxnSpPr>
          <p:nvPr/>
        </p:nvCxnSpPr>
        <p:spPr>
          <a:xfrm flipV="1">
            <a:off x="8322849" y="2299045"/>
            <a:ext cx="959904" cy="21446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urved Connector 319">
            <a:extLst>
              <a:ext uri="{FF2B5EF4-FFF2-40B4-BE49-F238E27FC236}">
                <a16:creationId xmlns:a16="http://schemas.microsoft.com/office/drawing/2014/main" id="{40A06D94-9C8F-655E-3000-2A19452762D9}"/>
              </a:ext>
            </a:extLst>
          </p:cNvPr>
          <p:cNvCxnSpPr>
            <a:cxnSpLocks/>
            <a:stCxn id="275" idx="2"/>
            <a:endCxn id="38" idx="0"/>
          </p:cNvCxnSpPr>
          <p:nvPr/>
        </p:nvCxnSpPr>
        <p:spPr>
          <a:xfrm rot="5400000">
            <a:off x="10503108" y="647069"/>
            <a:ext cx="690493" cy="20936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urved Connector 322">
            <a:extLst>
              <a:ext uri="{FF2B5EF4-FFF2-40B4-BE49-F238E27FC236}">
                <a16:creationId xmlns:a16="http://schemas.microsoft.com/office/drawing/2014/main" id="{35D44951-032C-C7C0-1BF3-6D2508D45466}"/>
              </a:ext>
            </a:extLst>
          </p:cNvPr>
          <p:cNvCxnSpPr>
            <a:cxnSpLocks/>
            <a:stCxn id="276" idx="1"/>
            <a:endCxn id="38" idx="3"/>
          </p:cNvCxnSpPr>
          <p:nvPr/>
        </p:nvCxnSpPr>
        <p:spPr>
          <a:xfrm rot="10800000">
            <a:off x="10320326" y="2299045"/>
            <a:ext cx="1231421" cy="79342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ounded Rectangle 326">
            <a:extLst>
              <a:ext uri="{FF2B5EF4-FFF2-40B4-BE49-F238E27FC236}">
                <a16:creationId xmlns:a16="http://schemas.microsoft.com/office/drawing/2014/main" id="{A2644AF4-372A-AB65-8FF1-B122746FB0ED}"/>
              </a:ext>
            </a:extLst>
          </p:cNvPr>
          <p:cNvSpPr/>
          <p:nvPr/>
        </p:nvSpPr>
        <p:spPr>
          <a:xfrm>
            <a:off x="9259867" y="4046834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Missing skills</a:t>
            </a:r>
          </a:p>
        </p:txBody>
      </p:sp>
      <p:cxnSp>
        <p:nvCxnSpPr>
          <p:cNvPr id="330" name="Curved Connector 329">
            <a:extLst>
              <a:ext uri="{FF2B5EF4-FFF2-40B4-BE49-F238E27FC236}">
                <a16:creationId xmlns:a16="http://schemas.microsoft.com/office/drawing/2014/main" id="{E618B335-AD88-3F4E-F190-8DC3567CD494}"/>
              </a:ext>
            </a:extLst>
          </p:cNvPr>
          <p:cNvCxnSpPr>
            <a:cxnSpLocks/>
            <a:stCxn id="30" idx="3"/>
            <a:endCxn id="42" idx="2"/>
          </p:cNvCxnSpPr>
          <p:nvPr/>
        </p:nvCxnSpPr>
        <p:spPr>
          <a:xfrm flipV="1">
            <a:off x="8322849" y="3371375"/>
            <a:ext cx="1251287" cy="10723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urved Connector 336">
            <a:extLst>
              <a:ext uri="{FF2B5EF4-FFF2-40B4-BE49-F238E27FC236}">
                <a16:creationId xmlns:a16="http://schemas.microsoft.com/office/drawing/2014/main" id="{E7282F0D-EAF1-0442-AC44-3122440BD51B}"/>
              </a:ext>
            </a:extLst>
          </p:cNvPr>
          <p:cNvCxnSpPr>
            <a:cxnSpLocks/>
            <a:stCxn id="42" idx="2"/>
            <a:endCxn id="327" idx="0"/>
          </p:cNvCxnSpPr>
          <p:nvPr/>
        </p:nvCxnSpPr>
        <p:spPr>
          <a:xfrm rot="16200000" flipH="1">
            <a:off x="9338665" y="3606845"/>
            <a:ext cx="675459" cy="2045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urved Connector 341">
            <a:extLst>
              <a:ext uri="{FF2B5EF4-FFF2-40B4-BE49-F238E27FC236}">
                <a16:creationId xmlns:a16="http://schemas.microsoft.com/office/drawing/2014/main" id="{0A26B1A1-7571-96E5-1FF7-AE309E4D32D1}"/>
              </a:ext>
            </a:extLst>
          </p:cNvPr>
          <p:cNvCxnSpPr>
            <a:cxnSpLocks/>
            <a:stCxn id="276" idx="2"/>
            <a:endCxn id="327" idx="0"/>
          </p:cNvCxnSpPr>
          <p:nvPr/>
        </p:nvCxnSpPr>
        <p:spPr>
          <a:xfrm rot="5400000">
            <a:off x="10577369" y="2553671"/>
            <a:ext cx="694448" cy="22918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urved Connector 344">
            <a:extLst>
              <a:ext uri="{FF2B5EF4-FFF2-40B4-BE49-F238E27FC236}">
                <a16:creationId xmlns:a16="http://schemas.microsoft.com/office/drawing/2014/main" id="{8A0C5072-A524-9F33-1523-486E7EF77F6D}"/>
              </a:ext>
            </a:extLst>
          </p:cNvPr>
          <p:cNvCxnSpPr>
            <a:cxnSpLocks/>
            <a:stCxn id="276" idx="2"/>
            <a:endCxn id="45" idx="0"/>
          </p:cNvCxnSpPr>
          <p:nvPr/>
        </p:nvCxnSpPr>
        <p:spPr>
          <a:xfrm rot="5400000">
            <a:off x="11298689" y="3276405"/>
            <a:ext cx="695863" cy="8478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urved Connector 350">
            <a:extLst>
              <a:ext uri="{FF2B5EF4-FFF2-40B4-BE49-F238E27FC236}">
                <a16:creationId xmlns:a16="http://schemas.microsoft.com/office/drawing/2014/main" id="{EB1DB73B-CD20-7BF8-473C-B1281F8E0EC9}"/>
              </a:ext>
            </a:extLst>
          </p:cNvPr>
          <p:cNvCxnSpPr>
            <a:cxnSpLocks/>
            <a:stCxn id="276" idx="2"/>
            <a:endCxn id="44" idx="0"/>
          </p:cNvCxnSpPr>
          <p:nvPr/>
        </p:nvCxnSpPr>
        <p:spPr>
          <a:xfrm rot="16200000" flipH="1">
            <a:off x="12003027" y="3419890"/>
            <a:ext cx="704783" cy="5697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urved Connector 356">
            <a:extLst>
              <a:ext uri="{FF2B5EF4-FFF2-40B4-BE49-F238E27FC236}">
                <a16:creationId xmlns:a16="http://schemas.microsoft.com/office/drawing/2014/main" id="{6DE2DD4A-B610-1824-A672-EF72FA9B06F3}"/>
              </a:ext>
            </a:extLst>
          </p:cNvPr>
          <p:cNvCxnSpPr>
            <a:cxnSpLocks/>
            <a:stCxn id="38" idx="3"/>
            <a:endCxn id="41" idx="0"/>
          </p:cNvCxnSpPr>
          <p:nvPr/>
        </p:nvCxnSpPr>
        <p:spPr>
          <a:xfrm flipH="1">
            <a:off x="10219423" y="2299045"/>
            <a:ext cx="100902" cy="2893599"/>
          </a:xfrm>
          <a:prstGeom prst="curvedConnector4">
            <a:avLst>
              <a:gd name="adj1" fmla="val -226556"/>
              <a:gd name="adj2" fmla="val 78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urved Connector 365">
            <a:extLst>
              <a:ext uri="{FF2B5EF4-FFF2-40B4-BE49-F238E27FC236}">
                <a16:creationId xmlns:a16="http://schemas.microsoft.com/office/drawing/2014/main" id="{CDD48A5E-9657-8C5A-5A41-78DDD96F6C53}"/>
              </a:ext>
            </a:extLst>
          </p:cNvPr>
          <p:cNvCxnSpPr>
            <a:cxnSpLocks/>
            <a:stCxn id="327" idx="2"/>
            <a:endCxn id="41" idx="0"/>
          </p:cNvCxnSpPr>
          <p:nvPr/>
        </p:nvCxnSpPr>
        <p:spPr>
          <a:xfrm rot="16200000" flipH="1">
            <a:off x="9686048" y="4659269"/>
            <a:ext cx="625980" cy="4407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urved Connector 368">
            <a:extLst>
              <a:ext uri="{FF2B5EF4-FFF2-40B4-BE49-F238E27FC236}">
                <a16:creationId xmlns:a16="http://schemas.microsoft.com/office/drawing/2014/main" id="{815E9F70-5675-8A73-A1B9-0310B61D4D8F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 rot="5400000">
            <a:off x="10408783" y="4378719"/>
            <a:ext cx="624565" cy="10032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urved Connector 371">
            <a:extLst>
              <a:ext uri="{FF2B5EF4-FFF2-40B4-BE49-F238E27FC236}">
                <a16:creationId xmlns:a16="http://schemas.microsoft.com/office/drawing/2014/main" id="{6FE6E8DF-CA89-FF81-1801-6557B27636DA}"/>
              </a:ext>
            </a:extLst>
          </p:cNvPr>
          <p:cNvCxnSpPr>
            <a:cxnSpLocks/>
            <a:stCxn id="45" idx="2"/>
            <a:endCxn id="43" idx="0"/>
          </p:cNvCxnSpPr>
          <p:nvPr/>
        </p:nvCxnSpPr>
        <p:spPr>
          <a:xfrm rot="16200000" flipH="1">
            <a:off x="11267134" y="4523652"/>
            <a:ext cx="624565" cy="7134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urved Connector 374">
            <a:extLst>
              <a:ext uri="{FF2B5EF4-FFF2-40B4-BE49-F238E27FC236}">
                <a16:creationId xmlns:a16="http://schemas.microsoft.com/office/drawing/2014/main" id="{2189B899-D84C-404D-4450-8EC2F821E508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 rot="5400000">
            <a:off x="11980393" y="4532731"/>
            <a:ext cx="615645" cy="7041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Rounded Rectangle 377">
            <a:extLst>
              <a:ext uri="{FF2B5EF4-FFF2-40B4-BE49-F238E27FC236}">
                <a16:creationId xmlns:a16="http://schemas.microsoft.com/office/drawing/2014/main" id="{9E50F06D-5B08-1CFA-B604-F8BCBE602B35}"/>
              </a:ext>
            </a:extLst>
          </p:cNvPr>
          <p:cNvSpPr/>
          <p:nvPr/>
        </p:nvSpPr>
        <p:spPr>
          <a:xfrm>
            <a:off x="10535241" y="7354460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Ch3 Pipeline</a:t>
            </a:r>
          </a:p>
        </p:txBody>
      </p: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90F628BB-2C81-4580-4BA1-23EE2B79788F}"/>
              </a:ext>
            </a:extLst>
          </p:cNvPr>
          <p:cNvSpPr/>
          <p:nvPr/>
        </p:nvSpPr>
        <p:spPr>
          <a:xfrm>
            <a:off x="10522715" y="8328242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Positioning</a:t>
            </a:r>
          </a:p>
        </p:txBody>
      </p:sp>
      <p:sp>
        <p:nvSpPr>
          <p:cNvPr id="380" name="Left Brace 379">
            <a:extLst>
              <a:ext uri="{FF2B5EF4-FFF2-40B4-BE49-F238E27FC236}">
                <a16:creationId xmlns:a16="http://schemas.microsoft.com/office/drawing/2014/main" id="{981D9ABD-8691-5718-1EF0-D0ED7F6531F5}"/>
              </a:ext>
            </a:extLst>
          </p:cNvPr>
          <p:cNvSpPr/>
          <p:nvPr/>
        </p:nvSpPr>
        <p:spPr>
          <a:xfrm rot="16200000">
            <a:off x="10843393" y="4918810"/>
            <a:ext cx="501041" cy="41461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Rounded Rectangle 380">
            <a:extLst>
              <a:ext uri="{FF2B5EF4-FFF2-40B4-BE49-F238E27FC236}">
                <a16:creationId xmlns:a16="http://schemas.microsoft.com/office/drawing/2014/main" id="{59DB3D3B-BAA2-FB19-89C5-1DE1AD07D0E1}"/>
              </a:ext>
            </a:extLst>
          </p:cNvPr>
          <p:cNvSpPr/>
          <p:nvPr/>
        </p:nvSpPr>
        <p:spPr>
          <a:xfrm>
            <a:off x="10502380" y="6190002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Sensitivity analysis</a:t>
            </a:r>
          </a:p>
        </p:txBody>
      </p:sp>
      <p:cxnSp>
        <p:nvCxnSpPr>
          <p:cNvPr id="383" name="Curved Connector 382">
            <a:extLst>
              <a:ext uri="{FF2B5EF4-FFF2-40B4-BE49-F238E27FC236}">
                <a16:creationId xmlns:a16="http://schemas.microsoft.com/office/drawing/2014/main" id="{F9474674-1FEE-ACD2-810E-7E105F2186EE}"/>
              </a:ext>
            </a:extLst>
          </p:cNvPr>
          <p:cNvCxnSpPr>
            <a:cxnSpLocks/>
            <a:stCxn id="378" idx="2"/>
            <a:endCxn id="379" idx="0"/>
          </p:cNvCxnSpPr>
          <p:nvPr/>
        </p:nvCxnSpPr>
        <p:spPr>
          <a:xfrm rot="5400000">
            <a:off x="10820788" y="8095003"/>
            <a:ext cx="453952" cy="1252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urved Connector 385">
            <a:extLst>
              <a:ext uri="{FF2B5EF4-FFF2-40B4-BE49-F238E27FC236}">
                <a16:creationId xmlns:a16="http://schemas.microsoft.com/office/drawing/2014/main" id="{F6580214-7B61-2A08-9F07-B76B0FFB9E80}"/>
              </a:ext>
            </a:extLst>
          </p:cNvPr>
          <p:cNvCxnSpPr>
            <a:cxnSpLocks/>
            <a:stCxn id="381" idx="0"/>
            <a:endCxn id="43" idx="2"/>
          </p:cNvCxnSpPr>
          <p:nvPr/>
        </p:nvCxnSpPr>
        <p:spPr>
          <a:xfrm rot="5400000" flipH="1" flipV="1">
            <a:off x="11239881" y="5493759"/>
            <a:ext cx="477528" cy="91495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urved Connector 388">
            <a:extLst>
              <a:ext uri="{FF2B5EF4-FFF2-40B4-BE49-F238E27FC236}">
                <a16:creationId xmlns:a16="http://schemas.microsoft.com/office/drawing/2014/main" id="{AA63B08B-BC23-C6DB-6D10-17E9397969EF}"/>
              </a:ext>
            </a:extLst>
          </p:cNvPr>
          <p:cNvCxnSpPr>
            <a:cxnSpLocks/>
            <a:stCxn id="381" idx="0"/>
            <a:endCxn id="41" idx="2"/>
          </p:cNvCxnSpPr>
          <p:nvPr/>
        </p:nvCxnSpPr>
        <p:spPr>
          <a:xfrm rot="16200000" flipV="1">
            <a:off x="10381531" y="5550366"/>
            <a:ext cx="477528" cy="8017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Rounded Rectangle 426">
            <a:extLst>
              <a:ext uri="{FF2B5EF4-FFF2-40B4-BE49-F238E27FC236}">
                <a16:creationId xmlns:a16="http://schemas.microsoft.com/office/drawing/2014/main" id="{530D81C3-446C-B924-6F74-135A540BDCE8}"/>
              </a:ext>
            </a:extLst>
          </p:cNvPr>
          <p:cNvSpPr/>
          <p:nvPr/>
        </p:nvSpPr>
        <p:spPr>
          <a:xfrm>
            <a:off x="16139991" y="1702717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Positioning</a:t>
            </a:r>
          </a:p>
        </p:txBody>
      </p:sp>
      <p:sp>
        <p:nvSpPr>
          <p:cNvPr id="440" name="Rounded Rectangle 439">
            <a:extLst>
              <a:ext uri="{FF2B5EF4-FFF2-40B4-BE49-F238E27FC236}">
                <a16:creationId xmlns:a16="http://schemas.microsoft.com/office/drawing/2014/main" id="{E97FF8EB-BB31-F7F2-6679-9678483D16DA}"/>
              </a:ext>
            </a:extLst>
          </p:cNvPr>
          <p:cNvSpPr/>
          <p:nvPr/>
        </p:nvSpPr>
        <p:spPr>
          <a:xfrm>
            <a:off x="13952827" y="841509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Ch1 Pipeline</a:t>
            </a:r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4D172D62-3ECB-7387-7FA1-C0C34D637106}"/>
              </a:ext>
            </a:extLst>
          </p:cNvPr>
          <p:cNvSpPr/>
          <p:nvPr/>
        </p:nvSpPr>
        <p:spPr>
          <a:xfrm>
            <a:off x="16127466" y="841509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Ch3 Pipeline</a:t>
            </a:r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4C92DBB5-8C9C-E5A2-58A3-97BD28AE356C}"/>
              </a:ext>
            </a:extLst>
          </p:cNvPr>
          <p:cNvSpPr/>
          <p:nvPr/>
        </p:nvSpPr>
        <p:spPr>
          <a:xfrm>
            <a:off x="13799878" y="1727064"/>
            <a:ext cx="1340972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Models: Salary, Skills, PCA</a:t>
            </a:r>
          </a:p>
        </p:txBody>
      </p:sp>
      <p:cxnSp>
        <p:nvCxnSpPr>
          <p:cNvPr id="443" name="Curved Connector 442">
            <a:extLst>
              <a:ext uri="{FF2B5EF4-FFF2-40B4-BE49-F238E27FC236}">
                <a16:creationId xmlns:a16="http://schemas.microsoft.com/office/drawing/2014/main" id="{ABF32CC7-DF54-13E0-113F-59F9EA142886}"/>
              </a:ext>
            </a:extLst>
          </p:cNvPr>
          <p:cNvCxnSpPr>
            <a:cxnSpLocks/>
            <a:stCxn id="440" idx="2"/>
            <a:endCxn id="442" idx="0"/>
          </p:cNvCxnSpPr>
          <p:nvPr/>
        </p:nvCxnSpPr>
        <p:spPr>
          <a:xfrm rot="5400000">
            <a:off x="14288127" y="1543577"/>
            <a:ext cx="365725" cy="12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urved Connector 446">
            <a:extLst>
              <a:ext uri="{FF2B5EF4-FFF2-40B4-BE49-F238E27FC236}">
                <a16:creationId xmlns:a16="http://schemas.microsoft.com/office/drawing/2014/main" id="{4D965748-7FE3-27A3-1A75-1A447EAAF100}"/>
              </a:ext>
            </a:extLst>
          </p:cNvPr>
          <p:cNvCxnSpPr>
            <a:cxnSpLocks/>
            <a:stCxn id="441" idx="2"/>
            <a:endCxn id="427" idx="0"/>
          </p:cNvCxnSpPr>
          <p:nvPr/>
        </p:nvCxnSpPr>
        <p:spPr>
          <a:xfrm rot="16200000" flipH="1">
            <a:off x="16481825" y="1525765"/>
            <a:ext cx="341378" cy="125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urved Connector 449">
            <a:extLst>
              <a:ext uri="{FF2B5EF4-FFF2-40B4-BE49-F238E27FC236}">
                <a16:creationId xmlns:a16="http://schemas.microsoft.com/office/drawing/2014/main" id="{A50F9061-38CB-E090-D546-8DB3444B5546}"/>
              </a:ext>
            </a:extLst>
          </p:cNvPr>
          <p:cNvCxnSpPr>
            <a:cxnSpLocks/>
            <a:stCxn id="442" idx="2"/>
            <a:endCxn id="47" idx="0"/>
          </p:cNvCxnSpPr>
          <p:nvPr/>
        </p:nvCxnSpPr>
        <p:spPr>
          <a:xfrm rot="16200000" flipH="1">
            <a:off x="14489566" y="2227692"/>
            <a:ext cx="1100759" cy="1139162"/>
          </a:xfrm>
          <a:prstGeom prst="curvedConnector3">
            <a:avLst>
              <a:gd name="adj1" fmla="val 679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urved Connector 452">
            <a:extLst>
              <a:ext uri="{FF2B5EF4-FFF2-40B4-BE49-F238E27FC236}">
                <a16:creationId xmlns:a16="http://schemas.microsoft.com/office/drawing/2014/main" id="{6099A335-469E-49ED-5BC8-04CBF95DF709}"/>
              </a:ext>
            </a:extLst>
          </p:cNvPr>
          <p:cNvCxnSpPr>
            <a:cxnSpLocks/>
            <a:stCxn id="427" idx="2"/>
            <a:endCxn id="47" idx="0"/>
          </p:cNvCxnSpPr>
          <p:nvPr/>
        </p:nvCxnSpPr>
        <p:spPr>
          <a:xfrm rot="5400000">
            <a:off x="15571599" y="2260475"/>
            <a:ext cx="1125106" cy="1049251"/>
          </a:xfrm>
          <a:prstGeom prst="curvedConnector3">
            <a:avLst>
              <a:gd name="adj1" fmla="val 642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Rounded Rectangle 455">
            <a:extLst>
              <a:ext uri="{FF2B5EF4-FFF2-40B4-BE49-F238E27FC236}">
                <a16:creationId xmlns:a16="http://schemas.microsoft.com/office/drawing/2014/main" id="{1EB6BA6A-046F-1225-D4E7-21CA114E92F1}"/>
              </a:ext>
            </a:extLst>
          </p:cNvPr>
          <p:cNvSpPr/>
          <p:nvPr/>
        </p:nvSpPr>
        <p:spPr>
          <a:xfrm>
            <a:off x="14000827" y="4267532"/>
            <a:ext cx="1198308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Job explanations</a:t>
            </a:r>
          </a:p>
        </p:txBody>
      </p:sp>
      <p:cxnSp>
        <p:nvCxnSpPr>
          <p:cNvPr id="457" name="Curved Connector 456">
            <a:extLst>
              <a:ext uri="{FF2B5EF4-FFF2-40B4-BE49-F238E27FC236}">
                <a16:creationId xmlns:a16="http://schemas.microsoft.com/office/drawing/2014/main" id="{DE8F1023-BEF8-19C9-FEE7-ECF913A70030}"/>
              </a:ext>
            </a:extLst>
          </p:cNvPr>
          <p:cNvCxnSpPr>
            <a:cxnSpLocks/>
            <a:stCxn id="47" idx="2"/>
            <a:endCxn id="456" idx="0"/>
          </p:cNvCxnSpPr>
          <p:nvPr/>
        </p:nvCxnSpPr>
        <p:spPr>
          <a:xfrm rot="5400000">
            <a:off x="14904730" y="3562735"/>
            <a:ext cx="400049" cy="10095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68633A15-1085-12D3-1227-E8831F047DD6}"/>
              </a:ext>
            </a:extLst>
          </p:cNvPr>
          <p:cNvSpPr/>
          <p:nvPr/>
        </p:nvSpPr>
        <p:spPr>
          <a:xfrm>
            <a:off x="16085309" y="4298993"/>
            <a:ext cx="1198308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Upskill recommender</a:t>
            </a:r>
          </a:p>
        </p:txBody>
      </p:sp>
      <p:cxnSp>
        <p:nvCxnSpPr>
          <p:cNvPr id="461" name="Curved Connector 460">
            <a:extLst>
              <a:ext uri="{FF2B5EF4-FFF2-40B4-BE49-F238E27FC236}">
                <a16:creationId xmlns:a16="http://schemas.microsoft.com/office/drawing/2014/main" id="{1C186A1F-8F89-8672-2B8D-0D42435C4BFB}"/>
              </a:ext>
            </a:extLst>
          </p:cNvPr>
          <p:cNvCxnSpPr>
            <a:cxnSpLocks/>
            <a:stCxn id="47" idx="2"/>
            <a:endCxn id="460" idx="0"/>
          </p:cNvCxnSpPr>
          <p:nvPr/>
        </p:nvCxnSpPr>
        <p:spPr>
          <a:xfrm rot="16200000" flipH="1">
            <a:off x="15931239" y="3545769"/>
            <a:ext cx="431510" cy="10749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Rounded Rectangle 469">
            <a:extLst>
              <a:ext uri="{FF2B5EF4-FFF2-40B4-BE49-F238E27FC236}">
                <a16:creationId xmlns:a16="http://schemas.microsoft.com/office/drawing/2014/main" id="{814E824B-B8DE-50CE-90B1-91D5D99282EE}"/>
              </a:ext>
            </a:extLst>
          </p:cNvPr>
          <p:cNvSpPr/>
          <p:nvPr/>
        </p:nvSpPr>
        <p:spPr>
          <a:xfrm>
            <a:off x="15095083" y="2291667"/>
            <a:ext cx="1037572" cy="60855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probability matrix</a:t>
            </a:r>
          </a:p>
        </p:txBody>
      </p:sp>
      <p:cxnSp>
        <p:nvCxnSpPr>
          <p:cNvPr id="471" name="Curved Connector 470">
            <a:extLst>
              <a:ext uri="{FF2B5EF4-FFF2-40B4-BE49-F238E27FC236}">
                <a16:creationId xmlns:a16="http://schemas.microsoft.com/office/drawing/2014/main" id="{46A891DB-9580-F917-07CF-38322B50FAFE}"/>
              </a:ext>
            </a:extLst>
          </p:cNvPr>
          <p:cNvCxnSpPr>
            <a:cxnSpLocks/>
            <a:stCxn id="442" idx="3"/>
            <a:endCxn id="470" idx="0"/>
          </p:cNvCxnSpPr>
          <p:nvPr/>
        </p:nvCxnSpPr>
        <p:spPr>
          <a:xfrm>
            <a:off x="15140850" y="1986979"/>
            <a:ext cx="473019" cy="30468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urved Connector 473">
            <a:extLst>
              <a:ext uri="{FF2B5EF4-FFF2-40B4-BE49-F238E27FC236}">
                <a16:creationId xmlns:a16="http://schemas.microsoft.com/office/drawing/2014/main" id="{4B9CA191-D8DE-6C47-CFF9-12C6C91F2015}"/>
              </a:ext>
            </a:extLst>
          </p:cNvPr>
          <p:cNvCxnSpPr>
            <a:cxnSpLocks/>
            <a:stCxn id="470" idx="3"/>
            <a:endCxn id="460" idx="0"/>
          </p:cNvCxnSpPr>
          <p:nvPr/>
        </p:nvCxnSpPr>
        <p:spPr>
          <a:xfrm>
            <a:off x="16132655" y="2595943"/>
            <a:ext cx="551808" cy="17030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urved Connector 477">
            <a:extLst>
              <a:ext uri="{FF2B5EF4-FFF2-40B4-BE49-F238E27FC236}">
                <a16:creationId xmlns:a16="http://schemas.microsoft.com/office/drawing/2014/main" id="{4D26F54B-8886-D975-CD30-A204EB54150D}"/>
              </a:ext>
            </a:extLst>
          </p:cNvPr>
          <p:cNvCxnSpPr>
            <a:cxnSpLocks/>
            <a:stCxn id="470" idx="2"/>
            <a:endCxn id="47" idx="0"/>
          </p:cNvCxnSpPr>
          <p:nvPr/>
        </p:nvCxnSpPr>
        <p:spPr>
          <a:xfrm rot="5400000">
            <a:off x="15387981" y="3121764"/>
            <a:ext cx="447435" cy="43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C523F18-B7C2-1CE1-8070-AF08CC91BE7E}"/>
              </a:ext>
            </a:extLst>
          </p:cNvPr>
          <p:cNvSpPr/>
          <p:nvPr/>
        </p:nvSpPr>
        <p:spPr>
          <a:xfrm>
            <a:off x="15807776" y="5184099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Best upskilling (ROI-based)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9DF861-A342-9163-D746-CD1D109DE912}"/>
              </a:ext>
            </a:extLst>
          </p:cNvPr>
          <p:cNvSpPr/>
          <p:nvPr/>
        </p:nvSpPr>
        <p:spPr>
          <a:xfrm>
            <a:off x="14376567" y="5171575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Best and stretch job matches</a:t>
            </a: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13F1FBB2-88B5-368A-8964-6286BF9247E0}"/>
              </a:ext>
            </a:extLst>
          </p:cNvPr>
          <p:cNvCxnSpPr>
            <a:cxnSpLocks/>
            <a:stCxn id="47" idx="2"/>
            <a:endCxn id="3" idx="0"/>
          </p:cNvCxnSpPr>
          <p:nvPr/>
        </p:nvCxnSpPr>
        <p:spPr>
          <a:xfrm rot="5400000">
            <a:off x="14600394" y="4162443"/>
            <a:ext cx="1304092" cy="714173"/>
          </a:xfrm>
          <a:prstGeom prst="curvedConnector3">
            <a:avLst>
              <a:gd name="adj1" fmla="val 746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9B3B0569-8041-0660-29A1-9B65ABF89704}"/>
              </a:ext>
            </a:extLst>
          </p:cNvPr>
          <p:cNvCxnSpPr>
            <a:cxnSpLocks/>
            <a:stCxn id="460" idx="2"/>
            <a:endCxn id="2" idx="0"/>
          </p:cNvCxnSpPr>
          <p:nvPr/>
        </p:nvCxnSpPr>
        <p:spPr>
          <a:xfrm rot="5400000">
            <a:off x="16322875" y="4822511"/>
            <a:ext cx="365276" cy="3579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EEDDC3-9F14-12AC-9E59-2EB69999E9F1}"/>
              </a:ext>
            </a:extLst>
          </p:cNvPr>
          <p:cNvSpPr txBox="1"/>
          <p:nvPr/>
        </p:nvSpPr>
        <p:spPr>
          <a:xfrm>
            <a:off x="2437253" y="9296236"/>
            <a:ext cx="132311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 i="1"/>
            </a:lvl1pPr>
          </a:lstStyle>
          <a:p>
            <a:r>
              <a:rPr lang="en-US" dirty="0"/>
              <a:t>Chapter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0A54E5-AE14-D0FD-F68E-1CE46A867E76}"/>
              </a:ext>
            </a:extLst>
          </p:cNvPr>
          <p:cNvSpPr txBox="1"/>
          <p:nvPr/>
        </p:nvSpPr>
        <p:spPr>
          <a:xfrm>
            <a:off x="7045428" y="5351083"/>
            <a:ext cx="132311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 i="1"/>
            </a:lvl1pPr>
          </a:lstStyle>
          <a:p>
            <a:r>
              <a:rPr lang="en-US" dirty="0"/>
              <a:t>Chapter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0A5454-7260-0FEB-3129-AA3626C16B6A}"/>
              </a:ext>
            </a:extLst>
          </p:cNvPr>
          <p:cNvSpPr txBox="1"/>
          <p:nvPr/>
        </p:nvSpPr>
        <p:spPr>
          <a:xfrm>
            <a:off x="6927094" y="9323291"/>
            <a:ext cx="132311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i="1" dirty="0"/>
              <a:t>Chapter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50905F-FF2A-B45E-3BDF-ECA0FDE09F74}"/>
              </a:ext>
            </a:extLst>
          </p:cNvPr>
          <p:cNvSpPr txBox="1"/>
          <p:nvPr/>
        </p:nvSpPr>
        <p:spPr>
          <a:xfrm>
            <a:off x="11353250" y="9309411"/>
            <a:ext cx="132311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 i="1"/>
            </a:lvl1pPr>
          </a:lstStyle>
          <a:p>
            <a:r>
              <a:rPr lang="en-US" dirty="0"/>
              <a:t>Chapter 3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93AB0BCC-F4D2-1D12-A690-6C7D9242F26B}"/>
              </a:ext>
            </a:extLst>
          </p:cNvPr>
          <p:cNvSpPr txBox="1"/>
          <p:nvPr/>
        </p:nvSpPr>
        <p:spPr>
          <a:xfrm>
            <a:off x="15919345" y="6462746"/>
            <a:ext cx="1324722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 i="1"/>
            </a:lvl1pPr>
          </a:lstStyle>
          <a:p>
            <a:r>
              <a:rPr lang="en-US" dirty="0"/>
              <a:t>Chapter 4</a:t>
            </a:r>
          </a:p>
        </p:txBody>
      </p:sp>
      <p:sp>
        <p:nvSpPr>
          <p:cNvPr id="467" name="Rounded Rectangle 466">
            <a:extLst>
              <a:ext uri="{FF2B5EF4-FFF2-40B4-BE49-F238E27FC236}">
                <a16:creationId xmlns:a16="http://schemas.microsoft.com/office/drawing/2014/main" id="{58B49042-25CC-8256-7E2F-25EFD3282905}"/>
              </a:ext>
            </a:extLst>
          </p:cNvPr>
          <p:cNvSpPr/>
          <p:nvPr/>
        </p:nvSpPr>
        <p:spPr>
          <a:xfrm>
            <a:off x="2223836" y="39062"/>
            <a:ext cx="1037572" cy="5198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</a:t>
            </a:r>
          </a:p>
        </p:txBody>
      </p:sp>
      <p:sp>
        <p:nvSpPr>
          <p:cNvPr id="468" name="Rounded Rectangle 467">
            <a:extLst>
              <a:ext uri="{FF2B5EF4-FFF2-40B4-BE49-F238E27FC236}">
                <a16:creationId xmlns:a16="http://schemas.microsoft.com/office/drawing/2014/main" id="{A359A338-7BDD-F818-2E5C-0E6CD05683D4}"/>
              </a:ext>
            </a:extLst>
          </p:cNvPr>
          <p:cNvSpPr/>
          <p:nvPr/>
        </p:nvSpPr>
        <p:spPr>
          <a:xfrm>
            <a:off x="3264729" y="39886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Processed</a:t>
            </a:r>
          </a:p>
        </p:txBody>
      </p:sp>
      <p:sp>
        <p:nvSpPr>
          <p:cNvPr id="475" name="Rounded Rectangle 474">
            <a:extLst>
              <a:ext uri="{FF2B5EF4-FFF2-40B4-BE49-F238E27FC236}">
                <a16:creationId xmlns:a16="http://schemas.microsoft.com/office/drawing/2014/main" id="{E4169A65-0EB7-9C3B-A448-409C4FF69EC7}"/>
              </a:ext>
            </a:extLst>
          </p:cNvPr>
          <p:cNvSpPr/>
          <p:nvPr/>
        </p:nvSpPr>
        <p:spPr>
          <a:xfrm>
            <a:off x="4325809" y="36938"/>
            <a:ext cx="1180151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Models</a:t>
            </a:r>
          </a:p>
        </p:txBody>
      </p:sp>
      <p:sp>
        <p:nvSpPr>
          <p:cNvPr id="476" name="Rounded Rectangle 475">
            <a:extLst>
              <a:ext uri="{FF2B5EF4-FFF2-40B4-BE49-F238E27FC236}">
                <a16:creationId xmlns:a16="http://schemas.microsoft.com/office/drawing/2014/main" id="{3DE3592C-85AB-7339-6A03-A391B9C36C80}"/>
              </a:ext>
            </a:extLst>
          </p:cNvPr>
          <p:cNvSpPr/>
          <p:nvPr/>
        </p:nvSpPr>
        <p:spPr>
          <a:xfrm>
            <a:off x="5504170" y="36938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Pipelines</a:t>
            </a:r>
          </a:p>
        </p:txBody>
      </p:sp>
      <p:sp>
        <p:nvSpPr>
          <p:cNvPr id="477" name="Rounded Rectangle 476">
            <a:extLst>
              <a:ext uri="{FF2B5EF4-FFF2-40B4-BE49-F238E27FC236}">
                <a16:creationId xmlns:a16="http://schemas.microsoft.com/office/drawing/2014/main" id="{B6BC2133-AD47-3FB4-8E33-509CC005EA0D}"/>
              </a:ext>
            </a:extLst>
          </p:cNvPr>
          <p:cNvSpPr/>
          <p:nvPr/>
        </p:nvSpPr>
        <p:spPr>
          <a:xfrm>
            <a:off x="6543988" y="37295"/>
            <a:ext cx="1401019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Decision outputs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CB7F9-3DC7-E1DF-44F9-67644280FB49}"/>
              </a:ext>
            </a:extLst>
          </p:cNvPr>
          <p:cNvSpPr/>
          <p:nvPr/>
        </p:nvSpPr>
        <p:spPr>
          <a:xfrm>
            <a:off x="15090740" y="5980208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Ch4 Pipeline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723B7D9F-6CCC-44AD-35A4-A678AAA0DADF}"/>
              </a:ext>
            </a:extLst>
          </p:cNvPr>
          <p:cNvSpPr/>
          <p:nvPr/>
        </p:nvSpPr>
        <p:spPr>
          <a:xfrm rot="16200000">
            <a:off x="15439006" y="3998289"/>
            <a:ext cx="291590" cy="357760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81FCE-159F-FDC5-790C-D8746A29C82E}"/>
              </a:ext>
            </a:extLst>
          </p:cNvPr>
          <p:cNvSpPr txBox="1"/>
          <p:nvPr/>
        </p:nvSpPr>
        <p:spPr>
          <a:xfrm>
            <a:off x="14834608" y="8245584"/>
            <a:ext cx="1324722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 i="1"/>
            </a:lvl1pPr>
          </a:lstStyle>
          <a:p>
            <a:r>
              <a:rPr lang="en-US" dirty="0"/>
              <a:t>Chapter 5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5973B622-0998-046C-77E0-3303001AAEE3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6066021" y="5157015"/>
            <a:ext cx="8768587" cy="32886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986D04EA-98A9-6A49-23BD-D5097414E72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14680475" y="7316533"/>
            <a:ext cx="1745546" cy="1125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915ECB82-53E8-3D8E-5DB5-BA4805EAEDA7}"/>
              </a:ext>
            </a:extLst>
          </p:cNvPr>
          <p:cNvCxnSpPr>
            <a:cxnSpLocks/>
            <a:stCxn id="36" idx="2"/>
            <a:endCxn id="5" idx="2"/>
          </p:cNvCxnSpPr>
          <p:nvPr/>
        </p:nvCxnSpPr>
        <p:spPr>
          <a:xfrm rot="16200000" flipH="1">
            <a:off x="11693018" y="4841743"/>
            <a:ext cx="57908" cy="7549993"/>
          </a:xfrm>
          <a:prstGeom prst="curvedConnector3">
            <a:avLst>
              <a:gd name="adj1" fmla="val 4947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7D52A1F-A6EE-19F1-49CE-6E97CF8336EA}"/>
              </a:ext>
            </a:extLst>
          </p:cNvPr>
          <p:cNvSpPr/>
          <p:nvPr/>
        </p:nvSpPr>
        <p:spPr>
          <a:xfrm>
            <a:off x="6513662" y="8766103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Ch2 Pipeline</a:t>
            </a:r>
          </a:p>
        </p:txBody>
      </p:sp>
    </p:spTree>
    <p:extLst>
      <p:ext uri="{BB962C8B-B14F-4D97-AF65-F5344CB8AC3E}">
        <p14:creationId xmlns:p14="http://schemas.microsoft.com/office/powerpoint/2010/main" val="38226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6B93641-EBF1-2E39-301E-1774FCCA402E}"/>
              </a:ext>
            </a:extLst>
          </p:cNvPr>
          <p:cNvSpPr/>
          <p:nvPr/>
        </p:nvSpPr>
        <p:spPr>
          <a:xfrm>
            <a:off x="505643" y="4047997"/>
            <a:ext cx="1037572" cy="51983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Raw data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2898343-A09A-0A8D-3047-D51ED2126A51}"/>
              </a:ext>
            </a:extLst>
          </p:cNvPr>
          <p:cNvSpPr/>
          <p:nvPr/>
        </p:nvSpPr>
        <p:spPr>
          <a:xfrm>
            <a:off x="1790590" y="4999444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Semantics</a:t>
            </a:r>
          </a:p>
          <a:p>
            <a:pPr algn="ctr"/>
            <a:r>
              <a:rPr lang="en-US" sz="1200" dirty="0"/>
              <a:t>(Title norm)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215B61-91EB-510E-F8DE-0C10D9E69EF4}"/>
              </a:ext>
            </a:extLst>
          </p:cNvPr>
          <p:cNvSpPr/>
          <p:nvPr/>
        </p:nvSpPr>
        <p:spPr>
          <a:xfrm>
            <a:off x="1790590" y="3096550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extraction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4AC411-8FAB-4CDE-F93F-3C53CD82821C}"/>
              </a:ext>
            </a:extLst>
          </p:cNvPr>
          <p:cNvSpPr/>
          <p:nvPr/>
        </p:nvSpPr>
        <p:spPr>
          <a:xfrm>
            <a:off x="3254487" y="4047997"/>
            <a:ext cx="1037572" cy="51983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Processed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2A2C27-C6E6-349C-1C9F-46DC4E014672}"/>
              </a:ext>
            </a:extLst>
          </p:cNvPr>
          <p:cNvSpPr/>
          <p:nvPr/>
        </p:nvSpPr>
        <p:spPr>
          <a:xfrm>
            <a:off x="1790590" y="4047997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Cleaning and engineering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0D3D1C-0F96-2FAA-6727-EF73AD49AF55}"/>
              </a:ext>
            </a:extLst>
          </p:cNvPr>
          <p:cNvSpPr/>
          <p:nvPr/>
        </p:nvSpPr>
        <p:spPr>
          <a:xfrm>
            <a:off x="4718384" y="4687086"/>
            <a:ext cx="1340972" cy="624716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Salary model</a:t>
            </a:r>
          </a:p>
          <a:p>
            <a:pPr algn="ctr"/>
            <a:r>
              <a:rPr lang="en-US" sz="1200" dirty="0" err="1"/>
              <a:t>XGBRegresssor</a:t>
            </a:r>
            <a:endParaRPr lang="en-US" sz="12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567925-0F32-96D3-EF81-83BDFF6E8671}"/>
              </a:ext>
            </a:extLst>
          </p:cNvPr>
          <p:cNvSpPr/>
          <p:nvPr/>
        </p:nvSpPr>
        <p:spPr>
          <a:xfrm>
            <a:off x="4718384" y="3528167"/>
            <a:ext cx="1290113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model</a:t>
            </a:r>
          </a:p>
          <a:p>
            <a:pPr algn="ctr"/>
            <a:r>
              <a:rPr lang="en-US" sz="1200" dirty="0" err="1"/>
              <a:t>LGBMClassifier</a:t>
            </a:r>
            <a:endParaRPr lang="en-US" sz="12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FA06F6-8207-D001-3BCC-33E1D404F9C0}"/>
              </a:ext>
            </a:extLst>
          </p:cNvPr>
          <p:cNvSpPr/>
          <p:nvPr/>
        </p:nvSpPr>
        <p:spPr>
          <a:xfrm>
            <a:off x="6536236" y="4791972"/>
            <a:ext cx="1180151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Explainability suite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43F49-011B-A25C-F0F7-A235C0BB1577}"/>
              </a:ext>
            </a:extLst>
          </p:cNvPr>
          <p:cNvSpPr/>
          <p:nvPr/>
        </p:nvSpPr>
        <p:spPr>
          <a:xfrm>
            <a:off x="6536236" y="3483806"/>
            <a:ext cx="1037572" cy="6085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probability matrix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FD271F-23A7-0532-4C09-CB730EE9628A}"/>
              </a:ext>
            </a:extLst>
          </p:cNvPr>
          <p:cNvSpPr/>
          <p:nvPr/>
        </p:nvSpPr>
        <p:spPr>
          <a:xfrm>
            <a:off x="8386419" y="6178260"/>
            <a:ext cx="1545077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Graph</a:t>
            </a:r>
          </a:p>
          <a:p>
            <a:pPr algn="ctr"/>
            <a:r>
              <a:rPr lang="en-US" sz="1200" dirty="0" err="1"/>
              <a:t>Networkx</a:t>
            </a:r>
            <a:r>
              <a:rPr lang="en-US" sz="1200" dirty="0"/>
              <a:t> bipartite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6865D7-CEFA-216E-F656-6567E1F81E80}"/>
              </a:ext>
            </a:extLst>
          </p:cNvPr>
          <p:cNvSpPr/>
          <p:nvPr/>
        </p:nvSpPr>
        <p:spPr>
          <a:xfrm>
            <a:off x="10192853" y="6178260"/>
            <a:ext cx="1180151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Embeddings</a:t>
            </a:r>
          </a:p>
          <a:p>
            <a:pPr algn="ctr"/>
            <a:r>
              <a:rPr lang="en-US" sz="1200" dirty="0"/>
              <a:t>Node2vec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25024D-AF7F-AE07-A573-C9D0E0634632}"/>
              </a:ext>
            </a:extLst>
          </p:cNvPr>
          <p:cNvSpPr/>
          <p:nvPr/>
        </p:nvSpPr>
        <p:spPr>
          <a:xfrm>
            <a:off x="11634361" y="6178260"/>
            <a:ext cx="1145933" cy="51983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Clustering</a:t>
            </a:r>
          </a:p>
          <a:p>
            <a:pPr algn="ctr"/>
            <a:r>
              <a:rPr lang="en-US" sz="1200" dirty="0" err="1"/>
              <a:t>Kmeans</a:t>
            </a:r>
            <a:endParaRPr lang="en-US" sz="12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B6D72F-4FEC-6089-2206-BEE3ABE50E93}"/>
              </a:ext>
            </a:extLst>
          </p:cNvPr>
          <p:cNvSpPr/>
          <p:nvPr/>
        </p:nvSpPr>
        <p:spPr>
          <a:xfrm>
            <a:off x="13054528" y="7294053"/>
            <a:ext cx="1180151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Job families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935E48-9533-17C8-3DE6-EB4E842893CE}"/>
              </a:ext>
            </a:extLst>
          </p:cNvPr>
          <p:cNvSpPr/>
          <p:nvPr/>
        </p:nvSpPr>
        <p:spPr>
          <a:xfrm>
            <a:off x="13019268" y="6382723"/>
            <a:ext cx="1180151" cy="63073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co-occurrence network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DDDA086-8244-3B7F-3B9A-D5521CC3A7D4}"/>
              </a:ext>
            </a:extLst>
          </p:cNvPr>
          <p:cNvSpPr/>
          <p:nvPr/>
        </p:nvSpPr>
        <p:spPr>
          <a:xfrm>
            <a:off x="13019268" y="5582297"/>
            <a:ext cx="1180151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Explainability suite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1B5791-6C77-3F14-5C12-B35055B774A9}"/>
              </a:ext>
            </a:extLst>
          </p:cNvPr>
          <p:cNvSpPr/>
          <p:nvPr/>
        </p:nvSpPr>
        <p:spPr>
          <a:xfrm>
            <a:off x="8390274" y="2612818"/>
            <a:ext cx="1037572" cy="5198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 profile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A8DEC6-2F55-D2EF-AF2E-6482BB7C5EBA}"/>
              </a:ext>
            </a:extLst>
          </p:cNvPr>
          <p:cNvSpPr/>
          <p:nvPr/>
        </p:nvSpPr>
        <p:spPr>
          <a:xfrm>
            <a:off x="9706479" y="1947178"/>
            <a:ext cx="1401019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Competitiveness index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6E37084-5ED2-AA27-E826-F780EC351C63}"/>
              </a:ext>
            </a:extLst>
          </p:cNvPr>
          <p:cNvSpPr/>
          <p:nvPr/>
        </p:nvSpPr>
        <p:spPr>
          <a:xfrm>
            <a:off x="9905815" y="3034959"/>
            <a:ext cx="1037572" cy="5198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Suitability index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8F12E21-A9AE-AEBC-8E6B-34C4127176CA}"/>
              </a:ext>
            </a:extLst>
          </p:cNvPr>
          <p:cNvSpPr/>
          <p:nvPr/>
        </p:nvSpPr>
        <p:spPr>
          <a:xfrm>
            <a:off x="11421356" y="2576720"/>
            <a:ext cx="1037572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Positioning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263CA98-47CF-0997-7CBF-37EE9C1FE60F}"/>
              </a:ext>
            </a:extLst>
          </p:cNvPr>
          <p:cNvSpPr/>
          <p:nvPr/>
        </p:nvSpPr>
        <p:spPr>
          <a:xfrm>
            <a:off x="14070920" y="2207093"/>
            <a:ext cx="1198308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Job recommender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2728D7-B8C3-6C62-EF6B-E61F05C37100}"/>
              </a:ext>
            </a:extLst>
          </p:cNvPr>
          <p:cNvSpPr/>
          <p:nvPr/>
        </p:nvSpPr>
        <p:spPr>
          <a:xfrm>
            <a:off x="15682912" y="2298576"/>
            <a:ext cx="1198308" cy="51983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Upskill recommender</a:t>
            </a:r>
          </a:p>
        </p:txBody>
      </p:sp>
    </p:spTree>
    <p:extLst>
      <p:ext uri="{BB962C8B-B14F-4D97-AF65-F5344CB8AC3E}">
        <p14:creationId xmlns:p14="http://schemas.microsoft.com/office/powerpoint/2010/main" val="390777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</TotalTime>
  <Words>201</Words>
  <Application>Microsoft Macintosh PowerPoint</Application>
  <PresentationFormat>Custom</PresentationFormat>
  <Paragraphs>104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de la Fuente Pinero</dc:creator>
  <cp:lastModifiedBy>Alejandro de la Fuente Pinero</cp:lastModifiedBy>
  <cp:revision>9</cp:revision>
  <dcterms:created xsi:type="dcterms:W3CDTF">2025-12-26T23:46:41Z</dcterms:created>
  <dcterms:modified xsi:type="dcterms:W3CDTF">2025-12-31T03:07:34Z</dcterms:modified>
</cp:coreProperties>
</file>